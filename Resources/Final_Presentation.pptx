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70" r:id="rId2"/>
    <p:sldId id="271" r:id="rId3"/>
    <p:sldId id="256" r:id="rId4"/>
    <p:sldId id="257" r:id="rId5"/>
    <p:sldId id="258" r:id="rId6"/>
    <p:sldId id="259" r:id="rId7"/>
    <p:sldId id="260" r:id="rId8"/>
    <p:sldId id="261" r:id="rId9"/>
    <p:sldId id="262" r:id="rId10"/>
    <p:sldId id="272" r:id="rId11"/>
    <p:sldId id="273" r:id="rId12"/>
    <p:sldId id="281" r:id="rId13"/>
    <p:sldId id="274" r:id="rId14"/>
    <p:sldId id="275" r:id="rId15"/>
    <p:sldId id="276" r:id="rId16"/>
    <p:sldId id="277" r:id="rId17"/>
    <p:sldId id="278" r:id="rId18"/>
    <p:sldId id="279" r:id="rId19"/>
    <p:sldId id="280" r:id="rId20"/>
    <p:sldId id="282" r:id="rId21"/>
    <p:sldId id="283" r:id="rId22"/>
    <p:sldId id="284" r:id="rId23"/>
    <p:sldId id="285" r:id="rId24"/>
    <p:sldId id="286" r:id="rId25"/>
    <p:sldId id="287" r:id="rId26"/>
    <p:sldId id="288" r:id="rId27"/>
    <p:sldId id="28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napToObjects="1">
      <p:cViewPr varScale="1">
        <p:scale>
          <a:sx n="78" d="100"/>
          <a:sy n="78" d="100"/>
        </p:scale>
        <p:origin x="71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313510-C320-4493-9EF6-2F0C62291E83}" type="datetimeFigureOut">
              <a:rPr lang="en-IN" smtClean="0"/>
              <a:t>02-05-2026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3CACE3-58B0-485F-8241-5691C02BECE8}" type="slidenum">
              <a:rPr lang="en-IN" smtClean="0"/>
              <a:t>‹#›</a:t>
            </a:fld>
            <a:endParaRPr lang="en-IN"/>
          </a:p>
        </p:txBody>
      </p:sp>
    </p:spTree>
    <p:extLst>
      <p:ext uri="{BB962C8B-B14F-4D97-AF65-F5344CB8AC3E}">
        <p14:creationId xmlns:p14="http://schemas.microsoft.com/office/powerpoint/2010/main" val="3123454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5f6af9d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5f6af9d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ai.google.dev/docs" TargetMode="External"/><Relationship Id="rId2" Type="http://schemas.openxmlformats.org/officeDocument/2006/relationships/hyperlink" Target="https://docs.langchain.com/?utm_source=chatgpt.com" TargetMode="External"/><Relationship Id="rId1" Type="http://schemas.openxmlformats.org/officeDocument/2006/relationships/slideLayout" Target="../slideLayouts/slideLayout2.xml"/><Relationship Id="rId4" Type="http://schemas.openxmlformats.org/officeDocument/2006/relationships/hyperlink" Target="https://www.twilio.com/docs/whats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3"/>
          <p:cNvPicPr preferRelativeResize="0"/>
          <p:nvPr/>
        </p:nvPicPr>
        <p:blipFill>
          <a:blip r:embed="rId3">
            <a:alphaModFix/>
          </a:blip>
          <a:stretch>
            <a:fillRect/>
          </a:stretch>
        </p:blipFill>
        <p:spPr>
          <a:xfrm>
            <a:off x="4805385" y="961034"/>
            <a:ext cx="2403689" cy="641999"/>
          </a:xfrm>
          <a:prstGeom prst="rect">
            <a:avLst/>
          </a:prstGeom>
          <a:noFill/>
          <a:ln>
            <a:noFill/>
          </a:ln>
        </p:spPr>
      </p:pic>
      <p:sp>
        <p:nvSpPr>
          <p:cNvPr id="87" name="Google Shape;87;p13"/>
          <p:cNvSpPr txBox="1"/>
          <p:nvPr/>
        </p:nvSpPr>
        <p:spPr>
          <a:xfrm>
            <a:off x="3551499" y="4134924"/>
            <a:ext cx="5277213" cy="1946400"/>
          </a:xfrm>
          <a:prstGeom prst="rect">
            <a:avLst/>
          </a:prstGeom>
          <a:noFill/>
          <a:ln>
            <a:noFill/>
          </a:ln>
        </p:spPr>
        <p:txBody>
          <a:bodyPr spcFirstLastPara="1" wrap="square" lIns="121900" tIns="121900" rIns="121900" bIns="121900" anchor="t" anchorCtr="0">
            <a:noAutofit/>
          </a:bodyPr>
          <a:lstStyle/>
          <a:p>
            <a:r>
              <a:rPr lang="en" sz="2000" b="1" dirty="0">
                <a:solidFill>
                  <a:schemeClr val="accent1"/>
                </a:solidFill>
                <a:latin typeface="Times New Roman" panose="02020603050405020304" pitchFamily="18" charset="0"/>
                <a:ea typeface="Lato"/>
                <a:cs typeface="Times New Roman" panose="02020603050405020304" pitchFamily="18" charset="0"/>
                <a:sym typeface="Lato"/>
              </a:rPr>
              <a:t>                         </a:t>
            </a:r>
            <a:r>
              <a:rPr lang="en" sz="2400" b="1" dirty="0">
                <a:latin typeface="Times New Roman" panose="02020603050405020304" pitchFamily="18" charset="0"/>
                <a:cs typeface="Times New Roman" panose="02020603050405020304" pitchFamily="18" charset="0"/>
              </a:rPr>
              <a:t>Presented By :</a:t>
            </a:r>
            <a:endParaRPr sz="2000" b="1" dirty="0">
              <a:solidFill>
                <a:schemeClr val="accent1"/>
              </a:solidFill>
              <a:latin typeface="Times New Roman" panose="02020603050405020304" pitchFamily="18" charset="0"/>
              <a:ea typeface="Lato"/>
              <a:cs typeface="Times New Roman" panose="02020603050405020304" pitchFamily="18" charset="0"/>
              <a:sym typeface="Lato"/>
            </a:endParaRPr>
          </a:p>
          <a:p>
            <a:endParaRPr sz="1600" dirty="0">
              <a:solidFill>
                <a:schemeClr val="accent1"/>
              </a:solidFill>
              <a:latin typeface="Times New Roman" panose="02020603050405020304" pitchFamily="18" charset="0"/>
              <a:ea typeface="Lato"/>
              <a:cs typeface="Times New Roman" panose="02020603050405020304" pitchFamily="18" charset="0"/>
              <a:sym typeface="Lato"/>
            </a:endParaRPr>
          </a:p>
          <a:p>
            <a:r>
              <a:rPr lang="en" sz="1600" dirty="0">
                <a:solidFill>
                  <a:schemeClr val="accent1"/>
                </a:solidFill>
                <a:latin typeface="Times New Roman" panose="02020603050405020304" pitchFamily="18" charset="0"/>
                <a:ea typeface="Lato"/>
                <a:cs typeface="Times New Roman" panose="02020603050405020304" pitchFamily="18" charset="0"/>
                <a:sym typeface="Lato"/>
              </a:rPr>
              <a:t>24UAM307                               Saklen Mushtak Manjire</a:t>
            </a:r>
            <a:endParaRPr sz="1600" dirty="0">
              <a:solidFill>
                <a:schemeClr val="accent1"/>
              </a:solidFill>
              <a:latin typeface="Times New Roman" panose="02020603050405020304" pitchFamily="18" charset="0"/>
              <a:ea typeface="Lato"/>
              <a:cs typeface="Times New Roman" panose="02020603050405020304" pitchFamily="18" charset="0"/>
              <a:sym typeface="Lato"/>
            </a:endParaRPr>
          </a:p>
          <a:p>
            <a:r>
              <a:rPr lang="en" sz="1600" dirty="0">
                <a:solidFill>
                  <a:schemeClr val="accent1"/>
                </a:solidFill>
                <a:latin typeface="Times New Roman" panose="02020603050405020304" pitchFamily="18" charset="0"/>
                <a:ea typeface="Lato"/>
                <a:cs typeface="Times New Roman" panose="02020603050405020304" pitchFamily="18" charset="0"/>
                <a:sym typeface="Lato"/>
              </a:rPr>
              <a:t>24UAM310                                Atharv Anil Niprul</a:t>
            </a:r>
            <a:endParaRPr sz="1600" dirty="0">
              <a:solidFill>
                <a:schemeClr val="accent1"/>
              </a:solidFill>
              <a:latin typeface="Times New Roman" panose="02020603050405020304" pitchFamily="18" charset="0"/>
              <a:ea typeface="Lato"/>
              <a:cs typeface="Times New Roman" panose="02020603050405020304" pitchFamily="18" charset="0"/>
              <a:sym typeface="Lato"/>
            </a:endParaRPr>
          </a:p>
          <a:p>
            <a:r>
              <a:rPr lang="en" sz="1600" dirty="0">
                <a:solidFill>
                  <a:schemeClr val="accent1"/>
                </a:solidFill>
                <a:latin typeface="Times New Roman" panose="02020603050405020304" pitchFamily="18" charset="0"/>
                <a:ea typeface="Lato"/>
                <a:cs typeface="Times New Roman" panose="02020603050405020304" pitchFamily="18" charset="0"/>
                <a:sym typeface="Lato"/>
              </a:rPr>
              <a:t>24UAM311                                Arya Bharat Patil</a:t>
            </a:r>
            <a:endParaRPr sz="1600" dirty="0">
              <a:solidFill>
                <a:schemeClr val="accent1"/>
              </a:solidFill>
              <a:latin typeface="Times New Roman" panose="02020603050405020304" pitchFamily="18" charset="0"/>
              <a:ea typeface="Lato"/>
              <a:cs typeface="Times New Roman" panose="02020603050405020304" pitchFamily="18" charset="0"/>
              <a:sym typeface="Lato"/>
            </a:endParaRPr>
          </a:p>
          <a:p>
            <a:r>
              <a:rPr lang="en" sz="1600" dirty="0">
                <a:solidFill>
                  <a:schemeClr val="accent1"/>
                </a:solidFill>
                <a:latin typeface="Times New Roman" panose="02020603050405020304" pitchFamily="18" charset="0"/>
                <a:ea typeface="Lato"/>
                <a:cs typeface="Times New Roman" panose="02020603050405020304" pitchFamily="18" charset="0"/>
                <a:sym typeface="Lato"/>
              </a:rPr>
              <a:t>24UAM315                                Om Narayan Sutar</a:t>
            </a:r>
            <a:endParaRPr sz="1600" dirty="0">
              <a:solidFill>
                <a:schemeClr val="accent1"/>
              </a:solidFill>
              <a:latin typeface="Times New Roman" panose="02020603050405020304" pitchFamily="18" charset="0"/>
              <a:ea typeface="Lato"/>
              <a:cs typeface="Times New Roman" panose="02020603050405020304" pitchFamily="18" charset="0"/>
              <a:sym typeface="Lato"/>
            </a:endParaRPr>
          </a:p>
          <a:p>
            <a:r>
              <a:rPr lang="en" sz="1600" dirty="0">
                <a:solidFill>
                  <a:schemeClr val="accent1"/>
                </a:solidFill>
                <a:latin typeface="Times New Roman" panose="02020603050405020304" pitchFamily="18" charset="0"/>
                <a:ea typeface="Lato"/>
                <a:cs typeface="Times New Roman" panose="02020603050405020304" pitchFamily="18" charset="0"/>
                <a:sym typeface="Lato"/>
              </a:rPr>
              <a:t>24UAM317                                Shravani Sachin Patil</a:t>
            </a:r>
            <a:endParaRPr sz="1600" dirty="0">
              <a:solidFill>
                <a:schemeClr val="accent1"/>
              </a:solidFill>
              <a:latin typeface="Times New Roman" panose="02020603050405020304" pitchFamily="18" charset="0"/>
              <a:ea typeface="Lato"/>
              <a:cs typeface="Times New Roman" panose="02020603050405020304" pitchFamily="18" charset="0"/>
              <a:sym typeface="Lato"/>
            </a:endParaRPr>
          </a:p>
        </p:txBody>
      </p:sp>
      <p:sp>
        <p:nvSpPr>
          <p:cNvPr id="88" name="Google Shape;88;p13"/>
          <p:cNvSpPr txBox="1"/>
          <p:nvPr/>
        </p:nvSpPr>
        <p:spPr>
          <a:xfrm>
            <a:off x="9312889" y="6016593"/>
            <a:ext cx="3272400" cy="548000"/>
          </a:xfrm>
          <a:prstGeom prst="rect">
            <a:avLst/>
          </a:prstGeom>
          <a:noFill/>
          <a:ln>
            <a:noFill/>
          </a:ln>
        </p:spPr>
        <p:txBody>
          <a:bodyPr spcFirstLastPara="1" wrap="square" lIns="121900" tIns="121900" rIns="121900" bIns="121900" anchor="t" anchorCtr="0">
            <a:noAutofit/>
          </a:bodyPr>
          <a:lstStyle/>
          <a:p>
            <a:r>
              <a:rPr lang="en" sz="1600" b="1" dirty="0">
                <a:solidFill>
                  <a:schemeClr val="accent1"/>
                </a:solidFill>
                <a:latin typeface="Times New Roman" panose="02020603050405020304" pitchFamily="18" charset="0"/>
                <a:ea typeface="Lato"/>
                <a:cs typeface="Times New Roman" panose="02020603050405020304" pitchFamily="18" charset="0"/>
                <a:sym typeface="Lato"/>
              </a:rPr>
              <a:t>Course : TY CSE(AIML)</a:t>
            </a:r>
            <a:endParaRPr sz="1600" b="1" dirty="0">
              <a:solidFill>
                <a:schemeClr val="accent1"/>
              </a:solidFill>
              <a:latin typeface="Times New Roman" panose="02020603050405020304" pitchFamily="18" charset="0"/>
              <a:ea typeface="Lato"/>
              <a:cs typeface="Times New Roman" panose="02020603050405020304" pitchFamily="18" charset="0"/>
              <a:sym typeface="Lato"/>
            </a:endParaRPr>
          </a:p>
        </p:txBody>
      </p:sp>
      <p:sp>
        <p:nvSpPr>
          <p:cNvPr id="89" name="Google Shape;89;p13"/>
          <p:cNvSpPr txBox="1"/>
          <p:nvPr/>
        </p:nvSpPr>
        <p:spPr>
          <a:xfrm>
            <a:off x="507388" y="1433666"/>
            <a:ext cx="11177223" cy="2026155"/>
          </a:xfrm>
          <a:prstGeom prst="rect">
            <a:avLst/>
          </a:prstGeom>
          <a:noFill/>
          <a:ln>
            <a:noFill/>
          </a:ln>
        </p:spPr>
        <p:txBody>
          <a:bodyPr spcFirstLastPara="1" wrap="square" lIns="121900" tIns="121900" rIns="121900" bIns="121900" anchor="t" anchorCtr="0">
            <a:spAutoFit/>
          </a:bodyPr>
          <a:lstStyle/>
          <a:p>
            <a:pPr>
              <a:spcBef>
                <a:spcPts val="1867"/>
              </a:spcBef>
            </a:pPr>
            <a:r>
              <a:rPr lang="en" sz="4400" b="1" dirty="0">
                <a:latin typeface="Times New Roman" panose="02020603050405020304" pitchFamily="18" charset="0"/>
                <a:cs typeface="Times New Roman" panose="02020603050405020304" pitchFamily="18" charset="0"/>
              </a:rPr>
              <a:t>Student Dropout Prediction System Using AI</a:t>
            </a:r>
          </a:p>
          <a:p>
            <a:pPr>
              <a:spcBef>
                <a:spcPts val="1867"/>
              </a:spcBef>
            </a:pPr>
            <a:br>
              <a:rPr lang="en" sz="2000" dirty="0">
                <a:latin typeface="Times New Roman" panose="02020603050405020304" pitchFamily="18" charset="0"/>
                <a:cs typeface="Times New Roman" panose="02020603050405020304" pitchFamily="18" charset="0"/>
              </a:rPr>
            </a:br>
            <a:endParaRPr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DE96C93-8EBC-333D-D2BF-842D5D9A66A2}"/>
              </a:ext>
            </a:extLst>
          </p:cNvPr>
          <p:cNvSpPr txBox="1"/>
          <p:nvPr/>
        </p:nvSpPr>
        <p:spPr>
          <a:xfrm>
            <a:off x="507388" y="2847747"/>
            <a:ext cx="9635613" cy="1015663"/>
          </a:xfrm>
          <a:prstGeom prst="rect">
            <a:avLst/>
          </a:prstGeom>
          <a:noFill/>
        </p:spPr>
        <p:txBody>
          <a:bodyPr wrap="square">
            <a:spAutoFit/>
          </a:bodyPr>
          <a:lstStyle/>
          <a:p>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Guided By: Veena Mali Mam</a:t>
            </a:r>
            <a:br>
              <a:rPr lang="en" sz="2000" dirty="0">
                <a:latin typeface="Times New Roman" panose="02020603050405020304" pitchFamily="18" charset="0"/>
                <a:cs typeface="Times New Roman" panose="02020603050405020304" pitchFamily="18" charset="0"/>
              </a:rPr>
            </a:b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Department of CSE(Artificial Intelligence and Machine Learning)</a:t>
            </a:r>
            <a:br>
              <a:rPr lang="en" sz="2000" b="1" dirty="0">
                <a:latin typeface="Times New Roman" panose="02020603050405020304" pitchFamily="18" charset="0"/>
                <a:cs typeface="Times New Roman" panose="02020603050405020304" pitchFamily="18" charset="0"/>
              </a:rPr>
            </a:br>
            <a:r>
              <a:rPr lang="en" sz="2000" b="1" dirty="0">
                <a:latin typeface="Times New Roman" panose="02020603050405020304" pitchFamily="18" charset="0"/>
                <a:cs typeface="Times New Roman" panose="02020603050405020304" pitchFamily="18" charset="0"/>
              </a:rPr>
              <a:t> DKTE Society’s Textile and Engineering Institute, Ichalkaranji</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D3D6-D122-BD9D-D532-232C60CCD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136DE-9357-13BC-714B-9B513CEA6BC1}"/>
              </a:ext>
            </a:extLst>
          </p:cNvPr>
          <p:cNvSpPr>
            <a:spLocks noGrp="1"/>
          </p:cNvSpPr>
          <p:nvPr>
            <p:ph type="title"/>
          </p:nvPr>
        </p:nvSpPr>
        <p:spPr>
          <a:xfrm>
            <a:off x="-83574" y="274638"/>
            <a:ext cx="8229600" cy="1143000"/>
          </a:xfrm>
        </p:spPr>
        <p:txBody>
          <a:bodyPr/>
          <a:lstStyle/>
          <a:p>
            <a:r>
              <a:rPr lang="en-US" dirty="0">
                <a:latin typeface="Times New Roman" panose="02020603050405020304" pitchFamily="18" charset="0"/>
                <a:cs typeface="Times New Roman" panose="02020603050405020304" pitchFamily="18" charset="0"/>
              </a:rPr>
              <a:t>Introduction to the Domain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2C4548-82C6-26A7-9C91-4E6D668CE77C}"/>
              </a:ext>
            </a:extLst>
          </p:cNvPr>
          <p:cNvSpPr>
            <a:spLocks noGrp="1"/>
          </p:cNvSpPr>
          <p:nvPr>
            <p:ph idx="1"/>
          </p:nvPr>
        </p:nvSpPr>
        <p:spPr>
          <a:xfrm>
            <a:off x="457199" y="1600200"/>
            <a:ext cx="10486103" cy="4525963"/>
          </a:xfrm>
        </p:spPr>
        <p:txBody>
          <a:bodyPr>
            <a:normAutofit/>
          </a:bodyPr>
          <a:lstStyle/>
          <a:p>
            <a:pPr algn="just"/>
            <a:r>
              <a:rPr lang="en-US" sz="2400" dirty="0">
                <a:latin typeface="Times New Roman" panose="02020603050405020304" pitchFamily="18" charset="0"/>
                <a:cs typeface="Times New Roman" panose="02020603050405020304" pitchFamily="18" charset="0"/>
              </a:rPr>
              <a:t>Artificial Intelligence (AI) has transformed various sectors including education. In the educational domain, AI enables predictive analytics to analyze student data and derive meaningful insights. The integration of Large Language Models (LLMs) such as Google Gemini with messaging platforms has enabled development of intelligent chatbots that understand context and provide helpful responses.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Educational Data Mining uses machine learning techniques to predict student performance and identify at-risk students. These predictions help institutions take timely action to support struggling students before they drop out.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264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74" y="274638"/>
            <a:ext cx="8229600" cy="1143000"/>
          </a:xfrm>
        </p:spPr>
        <p:txBody>
          <a:bodyPr/>
          <a:lstStyle/>
          <a:p>
            <a:r>
              <a:rPr dirty="0">
                <a:latin typeface="Times New Roman" panose="02020603050405020304" pitchFamily="18" charset="0"/>
                <a:cs typeface="Times New Roman" panose="02020603050405020304" pitchFamily="18" charset="0"/>
              </a:rPr>
              <a:t>Problem Domain &amp; Motivation</a:t>
            </a:r>
          </a:p>
        </p:txBody>
      </p:sp>
      <p:sp>
        <p:nvSpPr>
          <p:cNvPr id="3" name="Content Placeholder 2"/>
          <p:cNvSpPr>
            <a:spLocks noGrp="1"/>
          </p:cNvSpPr>
          <p:nvPr>
            <p:ph idx="1"/>
          </p:nvPr>
        </p:nvSpPr>
        <p:spPr>
          <a:xfrm>
            <a:off x="457199" y="1600200"/>
            <a:ext cx="10554929" cy="4525963"/>
          </a:xfrm>
        </p:spPr>
        <p:txBody>
          <a:bodyPr>
            <a:normAutofit fontScale="92500" lnSpcReduction="20000"/>
          </a:bodyPr>
          <a:lstStyle/>
          <a:p>
            <a:pPr marL="0" indent="0" algn="just">
              <a:buNone/>
              <a:defRPr sz="2400"/>
            </a:pPr>
            <a:r>
              <a:rPr lang="en-US" sz="2000" dirty="0">
                <a:latin typeface="Times New Roman" panose="02020603050405020304" pitchFamily="18" charset="0"/>
                <a:cs typeface="Times New Roman" panose="02020603050405020304" pitchFamily="18" charset="0"/>
              </a:rPr>
              <a:t>Student dropout is a major challenge in higher education:</a:t>
            </a:r>
          </a:p>
          <a:p>
            <a:pPr marL="0" indent="0" algn="just">
              <a:buNone/>
              <a:defRPr sz="2400"/>
            </a:pPr>
            <a:endParaRPr lang="en-US" sz="2000" dirty="0">
              <a:latin typeface="Times New Roman" panose="02020603050405020304" pitchFamily="18" charset="0"/>
              <a:cs typeface="Times New Roman" panose="02020603050405020304" pitchFamily="18" charset="0"/>
            </a:endParaRPr>
          </a:p>
          <a:p>
            <a:pPr marL="0" indent="0" algn="just">
              <a:buNone/>
              <a:defRPr sz="2400"/>
            </a:pPr>
            <a:r>
              <a:rPr lang="en-US" sz="2000" dirty="0">
                <a:latin typeface="Times New Roman" panose="02020603050405020304" pitchFamily="18" charset="0"/>
                <a:cs typeface="Times New Roman" panose="02020603050405020304" pitchFamily="18" charset="0"/>
              </a:rPr>
              <a:t>• Many students leave education due to academic stress, financial issues, and low motivation  </a:t>
            </a:r>
          </a:p>
          <a:p>
            <a:pPr marL="0" indent="0" algn="just">
              <a:buNone/>
              <a:defRPr sz="2400"/>
            </a:pPr>
            <a:r>
              <a:rPr lang="en-US" sz="2000" dirty="0">
                <a:latin typeface="Times New Roman" panose="02020603050405020304" pitchFamily="18" charset="0"/>
                <a:cs typeface="Times New Roman" panose="02020603050405020304" pitchFamily="18" charset="0"/>
              </a:rPr>
              <a:t>• Traditional systems detect dropout risk too late  </a:t>
            </a:r>
          </a:p>
          <a:p>
            <a:pPr marL="0" indent="0" algn="just">
              <a:buNone/>
              <a:defRPr sz="2400"/>
            </a:pPr>
            <a:r>
              <a:rPr lang="en-US" sz="2000" dirty="0">
                <a:latin typeface="Times New Roman" panose="02020603050405020304" pitchFamily="18" charset="0"/>
                <a:cs typeface="Times New Roman" panose="02020603050405020304" pitchFamily="18" charset="0"/>
              </a:rPr>
              <a:t>• Manual counseling is reactive, not proactive  </a:t>
            </a:r>
          </a:p>
          <a:p>
            <a:pPr marL="0" indent="0" algn="just">
              <a:buNone/>
              <a:defRPr sz="2400"/>
            </a:pPr>
            <a:r>
              <a:rPr lang="en-US" sz="2000" dirty="0">
                <a:latin typeface="Times New Roman" panose="02020603050405020304" pitchFamily="18" charset="0"/>
                <a:cs typeface="Times New Roman" panose="02020603050405020304" pitchFamily="18" charset="0"/>
              </a:rPr>
              <a:t>• Institutions lack continuous behavioral monitoring  </a:t>
            </a:r>
          </a:p>
          <a:p>
            <a:pPr marL="0" indent="0" algn="just">
              <a:buNone/>
              <a:defRPr sz="2400"/>
            </a:pPr>
            <a:endParaRPr lang="en-US" sz="2000" dirty="0">
              <a:latin typeface="Times New Roman" panose="02020603050405020304" pitchFamily="18" charset="0"/>
              <a:cs typeface="Times New Roman" panose="02020603050405020304" pitchFamily="18" charset="0"/>
            </a:endParaRPr>
          </a:p>
          <a:p>
            <a:pPr marL="0" indent="0" algn="just">
              <a:buNone/>
              <a:defRPr sz="2400"/>
            </a:pPr>
            <a:r>
              <a:rPr lang="en-US" sz="2000" dirty="0">
                <a:latin typeface="Times New Roman" panose="02020603050405020304" pitchFamily="18" charset="0"/>
                <a:cs typeface="Times New Roman" panose="02020603050405020304" pitchFamily="18" charset="0"/>
              </a:rPr>
              <a:t>Impact of Dropout:</a:t>
            </a:r>
          </a:p>
          <a:p>
            <a:pPr marL="0" indent="0" algn="just">
              <a:buNone/>
              <a:defRPr sz="2400"/>
            </a:pPr>
            <a:endParaRPr lang="en-US" sz="2000" dirty="0">
              <a:latin typeface="Times New Roman" panose="02020603050405020304" pitchFamily="18" charset="0"/>
              <a:cs typeface="Times New Roman" panose="02020603050405020304" pitchFamily="18" charset="0"/>
            </a:endParaRPr>
          </a:p>
          <a:p>
            <a:pPr marL="0" indent="0" algn="just">
              <a:buNone/>
              <a:defRPr sz="2400"/>
            </a:pPr>
            <a:r>
              <a:rPr lang="en-US" sz="2000" dirty="0">
                <a:latin typeface="Times New Roman" panose="02020603050405020304" pitchFamily="18" charset="0"/>
                <a:cs typeface="Times New Roman" panose="02020603050405020304" pitchFamily="18" charset="0"/>
              </a:rPr>
              <a:t>For Students  → Career loss, low confidence, financial burden  </a:t>
            </a:r>
          </a:p>
          <a:p>
            <a:pPr marL="0" indent="0" algn="just">
              <a:buNone/>
              <a:defRPr sz="2400"/>
            </a:pPr>
            <a:r>
              <a:rPr lang="en-US" sz="2000" dirty="0">
                <a:latin typeface="Times New Roman" panose="02020603050405020304" pitchFamily="18" charset="0"/>
                <a:cs typeface="Times New Roman" panose="02020603050405020304" pitchFamily="18" charset="0"/>
              </a:rPr>
              <a:t>For Colleges  → Lower reputation, poor outcomes, reduced retention  </a:t>
            </a:r>
          </a:p>
          <a:p>
            <a:pPr marL="0" indent="0" algn="just">
              <a:buNone/>
              <a:defRPr sz="2400"/>
            </a:pPr>
            <a:r>
              <a:rPr lang="en-US" sz="2000" dirty="0">
                <a:latin typeface="Times New Roman" panose="02020603050405020304" pitchFamily="18" charset="0"/>
                <a:cs typeface="Times New Roman" panose="02020603050405020304" pitchFamily="18" charset="0"/>
              </a:rPr>
              <a:t>For Society   → Skill gap and reduced employability  </a:t>
            </a:r>
          </a:p>
          <a:p>
            <a:pPr marL="0" indent="0" algn="just">
              <a:buNone/>
              <a:defRPr sz="2400"/>
            </a:pPr>
            <a:endParaRPr lang="en-US" sz="2000" dirty="0">
              <a:latin typeface="Times New Roman" panose="02020603050405020304" pitchFamily="18" charset="0"/>
              <a:cs typeface="Times New Roman" panose="02020603050405020304" pitchFamily="18" charset="0"/>
            </a:endParaRPr>
          </a:p>
          <a:p>
            <a:pPr marL="0" indent="0" algn="just">
              <a:buNone/>
              <a:defRPr sz="2400"/>
            </a:pPr>
            <a:r>
              <a:rPr lang="en-US" sz="2000" dirty="0">
                <a:latin typeface="Times New Roman" panose="02020603050405020304" pitchFamily="18" charset="0"/>
                <a:cs typeface="Times New Roman" panose="02020603050405020304" pitchFamily="18" charset="0"/>
              </a:rPr>
              <a:t>Need of the Hour:</a:t>
            </a:r>
          </a:p>
          <a:p>
            <a:pPr marL="0" indent="0" algn="just">
              <a:buNone/>
              <a:defRPr sz="2400"/>
            </a:pPr>
            <a:r>
              <a:rPr lang="en-US" sz="2000" dirty="0">
                <a:latin typeface="Times New Roman" panose="02020603050405020304" pitchFamily="18" charset="0"/>
                <a:cs typeface="Times New Roman" panose="02020603050405020304" pitchFamily="18" charset="0"/>
              </a:rPr>
              <a:t>Early detection + Continuous engagement + Timely intervention</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3329" y="501445"/>
            <a:ext cx="8229600" cy="1143000"/>
          </a:xfrm>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457200" y="1600200"/>
            <a:ext cx="10141974" cy="4525963"/>
          </a:xfrm>
        </p:spPr>
        <p:txBody>
          <a:bodyPr>
            <a:normAutofit fontScale="92500" lnSpcReduction="10000"/>
          </a:bodyPr>
          <a:lstStyle/>
          <a:p>
            <a:pPr marL="0" indent="0">
              <a:buNone/>
              <a:defRPr sz="2400"/>
            </a:pPr>
            <a:r>
              <a:rPr lang="en-US" dirty="0">
                <a:latin typeface="Times New Roman" panose="02020603050405020304" pitchFamily="18" charset="0"/>
                <a:cs typeface="Times New Roman" panose="02020603050405020304" pitchFamily="18" charset="0"/>
              </a:rPr>
              <a:t>Key findings from existing research:</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 Machine Learning models such as Decision Tree, Random Forest, and SVM are widely used for dropout prediction  </a:t>
            </a:r>
          </a:p>
          <a:p>
            <a:pPr marL="0" indent="0">
              <a:buNone/>
              <a:defRPr sz="2400"/>
            </a:pPr>
            <a:r>
              <a:rPr lang="en-US" dirty="0">
                <a:latin typeface="Times New Roman" panose="02020603050405020304" pitchFamily="18" charset="0"/>
                <a:cs typeface="Times New Roman" panose="02020603050405020304" pitchFamily="18" charset="0"/>
              </a:rPr>
              <a:t>• Academic indicators like attendance, marks, and assignments are the most commonly used features  </a:t>
            </a:r>
          </a:p>
          <a:p>
            <a:pPr marL="0" indent="0">
              <a:buNone/>
              <a:defRPr sz="2400"/>
            </a:pPr>
            <a:r>
              <a:rPr lang="en-US" dirty="0">
                <a:latin typeface="Times New Roman" panose="02020603050405020304" pitchFamily="18" charset="0"/>
                <a:cs typeface="Times New Roman" panose="02020603050405020304" pitchFamily="18" charset="0"/>
              </a:rPr>
              <a:t>• Some studies include socio-economic and demographic factors  </a:t>
            </a:r>
          </a:p>
          <a:p>
            <a:pPr marL="0" indent="0">
              <a:buNone/>
              <a:defRPr sz="2400"/>
            </a:pPr>
            <a:r>
              <a:rPr lang="en-US" dirty="0">
                <a:latin typeface="Times New Roman" panose="02020603050405020304" pitchFamily="18" charset="0"/>
                <a:cs typeface="Times New Roman" panose="02020603050405020304" pitchFamily="18" charset="0"/>
              </a:rPr>
              <a:t>• Most systems focus only on prediction, not intervention  </a:t>
            </a:r>
          </a:p>
          <a:p>
            <a:pPr marL="0" indent="0">
              <a:buNone/>
              <a:defRPr sz="2400"/>
            </a:pPr>
            <a:r>
              <a:rPr lang="en-US" dirty="0">
                <a:latin typeface="Times New Roman" panose="02020603050405020304" pitchFamily="18" charset="0"/>
                <a:cs typeface="Times New Roman" panose="02020603050405020304" pitchFamily="18" charset="0"/>
              </a:rPr>
              <a:t>• Very few systems integrate conversational AI for continuous student engagement  </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Research Insight:</a:t>
            </a:r>
          </a:p>
          <a:p>
            <a:pPr marL="0" indent="0">
              <a:buNone/>
              <a:defRPr sz="2400"/>
            </a:pPr>
            <a:r>
              <a:rPr lang="en-US" dirty="0">
                <a:latin typeface="Times New Roman" panose="02020603050405020304" pitchFamily="18" charset="0"/>
                <a:cs typeface="Times New Roman" panose="02020603050405020304" pitchFamily="18" charset="0"/>
              </a:rPr>
              <a:t>Prediction alone is not enough — intervention is equally important.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2038" y="382793"/>
            <a:ext cx="8229600" cy="1143000"/>
          </a:xfrm>
        </p:spPr>
        <p:txBody>
          <a:bodyPr/>
          <a:lstStyle/>
          <a:p>
            <a:r>
              <a:rPr lang="en-IN" dirty="0">
                <a:latin typeface="Times New Roman" panose="02020603050405020304" pitchFamily="18" charset="0"/>
                <a:cs typeface="Times New Roman" panose="02020603050405020304" pitchFamily="18" charset="0"/>
              </a:rPr>
              <a:t>Research Gaps</a:t>
            </a:r>
          </a:p>
        </p:txBody>
      </p:sp>
      <p:sp>
        <p:nvSpPr>
          <p:cNvPr id="3" name="Content Placeholder 2"/>
          <p:cNvSpPr>
            <a:spLocks noGrp="1"/>
          </p:cNvSpPr>
          <p:nvPr>
            <p:ph idx="1"/>
          </p:nvPr>
        </p:nvSpPr>
        <p:spPr/>
        <p:txBody>
          <a:bodyPr>
            <a:normAutofit fontScale="92500" lnSpcReduction="10000"/>
          </a:bodyPr>
          <a:lstStyle/>
          <a:p>
            <a:pPr marL="0" indent="0">
              <a:buNone/>
              <a:defRPr sz="2400"/>
            </a:pPr>
            <a:r>
              <a:rPr lang="en-US" dirty="0">
                <a:latin typeface="Times New Roman" panose="02020603050405020304" pitchFamily="18" charset="0"/>
                <a:cs typeface="Times New Roman" panose="02020603050405020304" pitchFamily="18" charset="0"/>
              </a:rPr>
              <a:t>Despite existing research, major gaps still remain:</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 Most systems rely only on academic data  </a:t>
            </a:r>
          </a:p>
          <a:p>
            <a:pPr marL="0" indent="0">
              <a:buNone/>
              <a:defRPr sz="2400"/>
            </a:pPr>
            <a:r>
              <a:rPr lang="en-US" dirty="0">
                <a:latin typeface="Times New Roman" panose="02020603050405020304" pitchFamily="18" charset="0"/>
                <a:cs typeface="Times New Roman" panose="02020603050405020304" pitchFamily="18" charset="0"/>
              </a:rPr>
              <a:t>• Behavioral and emotional student signals are rarely considered  </a:t>
            </a:r>
          </a:p>
          <a:p>
            <a:pPr marL="0" indent="0">
              <a:buNone/>
              <a:defRPr sz="2400"/>
            </a:pPr>
            <a:r>
              <a:rPr lang="en-US" dirty="0">
                <a:latin typeface="Times New Roman" panose="02020603050405020304" pitchFamily="18" charset="0"/>
                <a:cs typeface="Times New Roman" panose="02020603050405020304" pitchFamily="18" charset="0"/>
              </a:rPr>
              <a:t>• No continuous communication channel with students  </a:t>
            </a:r>
          </a:p>
          <a:p>
            <a:pPr marL="0" indent="0">
              <a:buNone/>
              <a:defRPr sz="2400"/>
            </a:pPr>
            <a:r>
              <a:rPr lang="en-US" dirty="0">
                <a:latin typeface="Times New Roman" panose="02020603050405020304" pitchFamily="18" charset="0"/>
                <a:cs typeface="Times New Roman" panose="02020603050405020304" pitchFamily="18" charset="0"/>
              </a:rPr>
              <a:t>• Existing solutions stop at prediction and do not support intervention  </a:t>
            </a:r>
          </a:p>
          <a:p>
            <a:pPr marL="0" indent="0">
              <a:buNone/>
              <a:defRPr sz="2400"/>
            </a:pPr>
            <a:r>
              <a:rPr lang="en-US" dirty="0">
                <a:latin typeface="Times New Roman" panose="02020603050405020304" pitchFamily="18" charset="0"/>
                <a:cs typeface="Times New Roman" panose="02020603050405020304" pitchFamily="18" charset="0"/>
              </a:rPr>
              <a:t>• Lack of mentor-facing tools for follow-up and support  </a:t>
            </a:r>
          </a:p>
          <a:p>
            <a:pPr marL="0" indent="0">
              <a:buNone/>
              <a:defRPr sz="2400"/>
            </a:pPr>
            <a:r>
              <a:rPr lang="en-US" dirty="0">
                <a:latin typeface="Times New Roman" panose="02020603050405020304" pitchFamily="18" charset="0"/>
                <a:cs typeface="Times New Roman" panose="02020603050405020304" pitchFamily="18" charset="0"/>
              </a:rPr>
              <a:t>• Limited use of Large Language Models for student engagement  </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Research Gap:</a:t>
            </a:r>
          </a:p>
          <a:p>
            <a:pPr marL="0" indent="0">
              <a:buNone/>
              <a:defRPr sz="2400"/>
            </a:pPr>
            <a:r>
              <a:rPr lang="en-US" dirty="0">
                <a:latin typeface="Times New Roman" panose="02020603050405020304" pitchFamily="18" charset="0"/>
                <a:cs typeface="Times New Roman" panose="02020603050405020304" pitchFamily="18" charset="0"/>
              </a:rPr>
              <a:t>There is no unified system that predicts, communicates, and supports students in real time.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240" y="313302"/>
            <a:ext cx="10377949" cy="1143000"/>
          </a:xfrm>
        </p:spPr>
        <p:txBody>
          <a:bodyPr>
            <a:noAutofit/>
          </a:bodyPr>
          <a:lstStyle/>
          <a:p>
            <a:r>
              <a:rPr lang="en-IN" sz="4000" dirty="0">
                <a:latin typeface="Times New Roman" panose="02020603050405020304" pitchFamily="18" charset="0"/>
                <a:cs typeface="Times New Roman" panose="02020603050405020304" pitchFamily="18" charset="0"/>
              </a:rPr>
              <a:t>PROBLEM STATEMENT &amp; OBJECTIVES</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199" y="1417638"/>
            <a:ext cx="10731911" cy="4525963"/>
          </a:xfrm>
        </p:spPr>
        <p:txBody>
          <a:bodyPr>
            <a:noAutofit/>
          </a:bodyPr>
          <a:lstStyle/>
          <a:p>
            <a:pPr marL="0" indent="0" algn="just">
              <a:buNone/>
              <a:defRPr sz="2400"/>
            </a:pPr>
            <a:r>
              <a:rPr lang="en-US" sz="2200" dirty="0">
                <a:latin typeface="Times New Roman" panose="02020603050405020304" pitchFamily="18" charset="0"/>
                <a:cs typeface="Times New Roman" panose="02020603050405020304" pitchFamily="18" charset="0"/>
              </a:rPr>
              <a:t>Problem Statement:</a:t>
            </a:r>
          </a:p>
          <a:p>
            <a:pPr marL="0" indent="0" algn="just">
              <a:buNone/>
              <a:defRPr sz="2400"/>
            </a:pPr>
            <a:r>
              <a:rPr lang="en-US" sz="2200" dirty="0">
                <a:latin typeface="Times New Roman" panose="02020603050405020304" pitchFamily="18" charset="0"/>
                <a:cs typeface="Times New Roman" panose="02020603050405020304" pitchFamily="18" charset="0"/>
              </a:rPr>
              <a:t>Educational institutions struggle to identify students at risk of dropout at an early stage because existing systems rely mainly on academic data and fail to capture behavioral signals or provide proactive support.</a:t>
            </a:r>
          </a:p>
          <a:p>
            <a:pPr marL="0" indent="0" algn="just">
              <a:buNone/>
              <a:defRPr sz="2400"/>
            </a:pPr>
            <a:endParaRPr lang="en-US" sz="2200" dirty="0">
              <a:latin typeface="Times New Roman" panose="02020603050405020304" pitchFamily="18" charset="0"/>
              <a:cs typeface="Times New Roman" panose="02020603050405020304" pitchFamily="18" charset="0"/>
            </a:endParaRPr>
          </a:p>
          <a:p>
            <a:pPr marL="0" indent="0" algn="just">
              <a:buNone/>
              <a:defRPr sz="2400"/>
            </a:pPr>
            <a:r>
              <a:rPr lang="en-US" sz="2200" dirty="0">
                <a:latin typeface="Times New Roman" panose="02020603050405020304" pitchFamily="18" charset="0"/>
                <a:cs typeface="Times New Roman" panose="02020603050405020304" pitchFamily="18" charset="0"/>
              </a:rPr>
              <a:t>Project Objectives:</a:t>
            </a:r>
          </a:p>
          <a:p>
            <a:pPr marL="0" indent="0" algn="just">
              <a:buNone/>
              <a:defRPr sz="2400"/>
            </a:pPr>
            <a:r>
              <a:rPr lang="en-US" sz="2200" dirty="0">
                <a:latin typeface="Times New Roman" panose="02020603050405020304" pitchFamily="18" charset="0"/>
                <a:cs typeface="Times New Roman" panose="02020603050405020304" pitchFamily="18" charset="0"/>
              </a:rPr>
              <a:t>• To achieve at least 80% dropout prediction accuracy using a Random Forest model combining academic and behavioral features</a:t>
            </a:r>
          </a:p>
          <a:p>
            <a:pPr marL="0" indent="0" algn="just">
              <a:buNone/>
              <a:defRPr sz="2400"/>
            </a:pPr>
            <a:endParaRPr lang="en-US" sz="2200" dirty="0">
              <a:latin typeface="Times New Roman" panose="02020603050405020304" pitchFamily="18" charset="0"/>
              <a:cs typeface="Times New Roman" panose="02020603050405020304" pitchFamily="18" charset="0"/>
            </a:endParaRPr>
          </a:p>
          <a:p>
            <a:pPr marL="0" indent="0" algn="just">
              <a:buNone/>
              <a:defRPr sz="2400"/>
            </a:pPr>
            <a:r>
              <a:rPr lang="en-US" sz="2200" dirty="0">
                <a:latin typeface="Times New Roman" panose="02020603050405020304" pitchFamily="18" charset="0"/>
                <a:cs typeface="Times New Roman" panose="02020603050405020304" pitchFamily="18" charset="0"/>
              </a:rPr>
              <a:t>• To develop a WhatsApp chatbot using </a:t>
            </a:r>
            <a:r>
              <a:rPr lang="en-US" sz="2200" dirty="0" err="1">
                <a:latin typeface="Times New Roman" panose="02020603050405020304" pitchFamily="18" charset="0"/>
                <a:cs typeface="Times New Roman" panose="02020603050405020304" pitchFamily="18" charset="0"/>
              </a:rPr>
              <a:t>LangChain</a:t>
            </a:r>
            <a:r>
              <a:rPr lang="en-US" sz="2200" dirty="0">
                <a:latin typeface="Times New Roman" panose="02020603050405020304" pitchFamily="18" charset="0"/>
                <a:cs typeface="Times New Roman" panose="02020603050405020304" pitchFamily="18" charset="0"/>
              </a:rPr>
              <a:t> and Google Gemini API for student interaction and behavioral data collection  </a:t>
            </a:r>
          </a:p>
          <a:p>
            <a:pPr marL="0" indent="0" algn="just">
              <a:buNone/>
              <a:defRPr sz="2400"/>
            </a:pPr>
            <a:endParaRPr lang="en-US" sz="2200" dirty="0">
              <a:latin typeface="Times New Roman" panose="02020603050405020304" pitchFamily="18" charset="0"/>
              <a:cs typeface="Times New Roman" panose="02020603050405020304" pitchFamily="18" charset="0"/>
            </a:endParaRPr>
          </a:p>
          <a:p>
            <a:pPr marL="0" indent="0" algn="just">
              <a:buNone/>
              <a:defRPr sz="2400"/>
            </a:pPr>
            <a:r>
              <a:rPr lang="en-US" sz="2200" dirty="0">
                <a:latin typeface="Times New Roman" panose="02020603050405020304" pitchFamily="18" charset="0"/>
                <a:cs typeface="Times New Roman" panose="02020603050405020304" pitchFamily="18" charset="0"/>
              </a:rPr>
              <a:t>• To design an Admin Dashboard and Mentor Portal using React.js for monitoring students and supporting at-risk learners  </a:t>
            </a:r>
          </a:p>
          <a:p>
            <a:pPr marL="0" indent="0" algn="just">
              <a:buNone/>
              <a:defRPr sz="2400"/>
            </a:pP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13" y="303470"/>
            <a:ext cx="8229600" cy="1143000"/>
          </a:xfrm>
        </p:spPr>
        <p:txBody>
          <a:bodyPr/>
          <a:lstStyle/>
          <a:p>
            <a:r>
              <a:rPr lang="en-IN" dirty="0">
                <a:latin typeface="Times New Roman" panose="02020603050405020304" pitchFamily="18" charset="0"/>
                <a:cs typeface="Times New Roman" panose="02020603050405020304" pitchFamily="18" charset="0"/>
              </a:rPr>
              <a:t>Proposed Solution Overview</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199" y="1600200"/>
            <a:ext cx="10171472" cy="4954330"/>
          </a:xfrm>
        </p:spPr>
        <p:txBody>
          <a:bodyPr>
            <a:normAutofit fontScale="92500" lnSpcReduction="10000"/>
          </a:bodyPr>
          <a:lstStyle/>
          <a:p>
            <a:pPr marL="0" indent="0" algn="just">
              <a:buNone/>
              <a:defRPr sz="2400"/>
            </a:pPr>
            <a:r>
              <a:rPr lang="en-US" dirty="0">
                <a:latin typeface="Times New Roman" panose="02020603050405020304" pitchFamily="18" charset="0"/>
                <a:cs typeface="Times New Roman" panose="02020603050405020304" pitchFamily="18" charset="0"/>
              </a:rPr>
              <a:t>We propose an AI-powered Student Dropout Prediction System </a:t>
            </a:r>
          </a:p>
          <a:p>
            <a:pPr marL="0" indent="0" algn="just">
              <a:buNone/>
              <a:defRPr sz="2400"/>
            </a:pPr>
            <a:r>
              <a:rPr lang="en-US" dirty="0">
                <a:latin typeface="Times New Roman" panose="02020603050405020304" pitchFamily="18" charset="0"/>
                <a:cs typeface="Times New Roman" panose="02020603050405020304" pitchFamily="18" charset="0"/>
              </a:rPr>
              <a:t>that combines machine learning, conversational AI, and mentor support tools.</a:t>
            </a:r>
          </a:p>
          <a:p>
            <a:pPr marL="0" indent="0" algn="just">
              <a:buNone/>
              <a:defRPr sz="2400"/>
            </a:pPr>
            <a:endParaRPr lang="en-US" dirty="0">
              <a:latin typeface="Times New Roman" panose="02020603050405020304" pitchFamily="18" charset="0"/>
              <a:cs typeface="Times New Roman" panose="02020603050405020304" pitchFamily="18" charset="0"/>
            </a:endParaRPr>
          </a:p>
          <a:p>
            <a:pPr marL="0" indent="0" algn="just">
              <a:buNone/>
              <a:defRPr sz="2400"/>
            </a:pPr>
            <a:r>
              <a:rPr lang="en-US" dirty="0">
                <a:latin typeface="Times New Roman" panose="02020603050405020304" pitchFamily="18" charset="0"/>
                <a:cs typeface="Times New Roman" panose="02020603050405020304" pitchFamily="18" charset="0"/>
              </a:rPr>
              <a:t>The system works in four major stages:</a:t>
            </a:r>
          </a:p>
          <a:p>
            <a:pPr marL="0" indent="0" algn="just">
              <a:buNone/>
              <a:defRPr sz="2400"/>
            </a:pPr>
            <a:endParaRPr lang="en-US" dirty="0">
              <a:latin typeface="Times New Roman" panose="02020603050405020304" pitchFamily="18" charset="0"/>
              <a:cs typeface="Times New Roman" panose="02020603050405020304" pitchFamily="18" charset="0"/>
            </a:endParaRPr>
          </a:p>
          <a:p>
            <a:pPr marL="0" indent="0" algn="just">
              <a:buNone/>
              <a:defRPr sz="2400"/>
            </a:pPr>
            <a:r>
              <a:rPr lang="en-US" dirty="0">
                <a:latin typeface="Times New Roman" panose="02020603050405020304" pitchFamily="18" charset="0"/>
                <a:cs typeface="Times New Roman" panose="02020603050405020304" pitchFamily="18" charset="0"/>
              </a:rPr>
              <a:t>1.  Collect student academic data from institutional records  </a:t>
            </a:r>
          </a:p>
          <a:p>
            <a:pPr marL="0" indent="0" algn="just">
              <a:buNone/>
              <a:defRPr sz="2400"/>
            </a:pPr>
            <a:r>
              <a:rPr lang="en-US" dirty="0">
                <a:latin typeface="Times New Roman" panose="02020603050405020304" pitchFamily="18" charset="0"/>
                <a:cs typeface="Times New Roman" panose="02020603050405020304" pitchFamily="18" charset="0"/>
              </a:rPr>
              <a:t>2.  Interact with students through a WhatsApp chatbot to gather behavioral signals  </a:t>
            </a:r>
          </a:p>
          <a:p>
            <a:pPr marL="0" indent="0" algn="just">
              <a:buNone/>
              <a:defRPr sz="2400"/>
            </a:pPr>
            <a:r>
              <a:rPr lang="en-US" dirty="0">
                <a:latin typeface="Times New Roman" panose="02020603050405020304" pitchFamily="18" charset="0"/>
                <a:cs typeface="Times New Roman" panose="02020603050405020304" pitchFamily="18" charset="0"/>
              </a:rPr>
              <a:t>3.  Predict dropout risk using a Random Forest machine learning model  </a:t>
            </a:r>
          </a:p>
          <a:p>
            <a:pPr marL="0" indent="0" algn="just">
              <a:buNone/>
              <a:defRPr sz="2400"/>
            </a:pPr>
            <a:r>
              <a:rPr lang="en-US" dirty="0">
                <a:latin typeface="Times New Roman" panose="02020603050405020304" pitchFamily="18" charset="0"/>
                <a:cs typeface="Times New Roman" panose="02020603050405020304" pitchFamily="18" charset="0"/>
              </a:rPr>
              <a:t>4. Provide alerts, insights, and intervention support through Admin and Mentor dashboards  </a:t>
            </a:r>
          </a:p>
          <a:p>
            <a:pPr marL="0" indent="0" algn="just">
              <a:buNone/>
              <a:defRPr sz="2400"/>
            </a:pPr>
            <a:endParaRPr lang="en-US" dirty="0">
              <a:latin typeface="Times New Roman" panose="02020603050405020304" pitchFamily="18" charset="0"/>
              <a:cs typeface="Times New Roman" panose="02020603050405020304" pitchFamily="18" charset="0"/>
            </a:endParaRPr>
          </a:p>
          <a:p>
            <a:pPr marL="0" indent="0" algn="just">
              <a:buNone/>
              <a:defRPr sz="2400"/>
            </a:pPr>
            <a:r>
              <a:rPr lang="en-US" dirty="0">
                <a:latin typeface="Times New Roman" panose="02020603050405020304" pitchFamily="18" charset="0"/>
                <a:cs typeface="Times New Roman" panose="02020603050405020304" pitchFamily="18" charset="0"/>
              </a:rPr>
              <a:t>Core Idea:</a:t>
            </a:r>
          </a:p>
          <a:p>
            <a:pPr marL="0" indent="0" algn="just">
              <a:buNone/>
              <a:defRPr sz="2400"/>
            </a:pPr>
            <a:r>
              <a:rPr lang="en-US" dirty="0">
                <a:latin typeface="Times New Roman" panose="02020603050405020304" pitchFamily="18" charset="0"/>
                <a:cs typeface="Times New Roman" panose="02020603050405020304" pitchFamily="18" charset="0"/>
              </a:rPr>
              <a:t>Predict early → Engage continuously → Intervene proactively</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60337"/>
            <a:ext cx="8229600" cy="1143000"/>
          </a:xfrm>
        </p:spPr>
        <p:txBody>
          <a:bodyPr/>
          <a:lstStyle/>
          <a:p>
            <a:r>
              <a:rPr lang="en-IN" dirty="0">
                <a:latin typeface="Times New Roman" panose="02020603050405020304" pitchFamily="18" charset="0"/>
                <a:cs typeface="Times New Roman" panose="02020603050405020304" pitchFamily="18" charset="0"/>
              </a:rPr>
              <a:t>System Architecture</a:t>
            </a:r>
            <a:endParaRPr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C177BEF9-AAB1-A043-550D-C85FEE4BCE05}"/>
              </a:ext>
            </a:extLst>
          </p:cNvPr>
          <p:cNvPicPr>
            <a:picLocks noGrp="1" noChangeAspect="1"/>
          </p:cNvPicPr>
          <p:nvPr>
            <p:ph idx="1"/>
          </p:nvPr>
        </p:nvPicPr>
        <p:blipFill>
          <a:blip r:embed="rId2"/>
          <a:stretch>
            <a:fillRect/>
          </a:stretch>
        </p:blipFill>
        <p:spPr>
          <a:xfrm>
            <a:off x="271287" y="319892"/>
            <a:ext cx="11649425" cy="62182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9394723" cy="1143000"/>
          </a:xfrm>
        </p:spPr>
        <p:txBody>
          <a:bodyPr>
            <a:normAutofit fontScale="90000"/>
          </a:bodyPr>
          <a:lstStyle/>
          <a:p>
            <a:r>
              <a:rPr lang="en-IN" dirty="0">
                <a:latin typeface="Times New Roman" panose="02020603050405020304" pitchFamily="18" charset="0"/>
                <a:cs typeface="Times New Roman" panose="02020603050405020304" pitchFamily="18" charset="0"/>
              </a:rPr>
              <a:t>MODULE-BY-MODULE EXPLANATION</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199" y="1600200"/>
            <a:ext cx="9394723" cy="4525963"/>
          </a:xfrm>
        </p:spPr>
        <p:txBody>
          <a:bodyPr>
            <a:normAutofit fontScale="70000" lnSpcReduction="20000"/>
          </a:bodyPr>
          <a:lstStyle/>
          <a:p>
            <a:pPr marL="0" indent="0">
              <a:buNone/>
              <a:defRPr sz="2400"/>
            </a:pPr>
            <a:r>
              <a:rPr lang="en-US" dirty="0">
                <a:latin typeface="Times New Roman" panose="02020603050405020304" pitchFamily="18" charset="0"/>
                <a:cs typeface="Times New Roman" panose="02020603050405020304" pitchFamily="18" charset="0"/>
              </a:rPr>
              <a:t>Our system is divided into five major modules:</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1. Student Data Collection Module  </a:t>
            </a:r>
          </a:p>
          <a:p>
            <a:pPr marL="0" indent="0">
              <a:buNone/>
              <a:defRPr sz="2400"/>
            </a:pPr>
            <a:r>
              <a:rPr lang="en-US" dirty="0">
                <a:latin typeface="Times New Roman" panose="02020603050405020304" pitchFamily="18" charset="0"/>
                <a:cs typeface="Times New Roman" panose="02020603050405020304" pitchFamily="18" charset="0"/>
              </a:rPr>
              <a:t>   Collects academic and personal student records from institutional sources</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2. WhatsApp Chatbot Module  </a:t>
            </a:r>
          </a:p>
          <a:p>
            <a:pPr marL="0" indent="0">
              <a:buNone/>
              <a:defRPr sz="2400"/>
            </a:pPr>
            <a:r>
              <a:rPr lang="en-US" dirty="0">
                <a:latin typeface="Times New Roman" panose="02020603050405020304" pitchFamily="18" charset="0"/>
                <a:cs typeface="Times New Roman" panose="02020603050405020304" pitchFamily="18" charset="0"/>
              </a:rPr>
              <a:t>   Interacts with students and gathers behavioral and emotional signals</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3. Behavioral Analysis Module  </a:t>
            </a:r>
          </a:p>
          <a:p>
            <a:pPr marL="0" indent="0">
              <a:buNone/>
              <a:defRPr sz="2400"/>
            </a:pPr>
            <a:r>
              <a:rPr lang="en-US" dirty="0">
                <a:latin typeface="Times New Roman" panose="02020603050405020304" pitchFamily="18" charset="0"/>
                <a:cs typeface="Times New Roman" panose="02020603050405020304" pitchFamily="18" charset="0"/>
              </a:rPr>
              <a:t>   Analyzes chatbot responses to extract student engagement indicators</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4. Dropout Prediction Module  </a:t>
            </a:r>
          </a:p>
          <a:p>
            <a:pPr marL="0" indent="0">
              <a:buNone/>
              <a:defRPr sz="2400"/>
            </a:pPr>
            <a:r>
              <a:rPr lang="en-US" dirty="0">
                <a:latin typeface="Times New Roman" panose="02020603050405020304" pitchFamily="18" charset="0"/>
                <a:cs typeface="Times New Roman" panose="02020603050405020304" pitchFamily="18" charset="0"/>
              </a:rPr>
              <a:t>   Predicts dropout risk using academic + behavioral data with Random Forest</a:t>
            </a:r>
          </a:p>
          <a:p>
            <a:pPr marL="0" indent="0">
              <a:buNone/>
              <a:defRPr sz="2400"/>
            </a:pPr>
            <a:endParaRPr lang="en-US" dirty="0">
              <a:latin typeface="Times New Roman" panose="02020603050405020304" pitchFamily="18" charset="0"/>
              <a:cs typeface="Times New Roman" panose="02020603050405020304" pitchFamily="18" charset="0"/>
            </a:endParaRPr>
          </a:p>
          <a:p>
            <a:pPr marL="0" indent="0">
              <a:buNone/>
              <a:defRPr sz="2400"/>
            </a:pPr>
            <a:r>
              <a:rPr lang="en-US" dirty="0">
                <a:latin typeface="Times New Roman" panose="02020603050405020304" pitchFamily="18" charset="0"/>
                <a:cs typeface="Times New Roman" panose="02020603050405020304" pitchFamily="18" charset="0"/>
              </a:rPr>
              <a:t>5. Admin &amp; Mentor Dashboard Module  </a:t>
            </a:r>
          </a:p>
          <a:p>
            <a:pPr marL="0" indent="0">
              <a:buNone/>
              <a:defRPr sz="2400"/>
            </a:pPr>
            <a:r>
              <a:rPr lang="en-US" dirty="0">
                <a:latin typeface="Times New Roman" panose="02020603050405020304" pitchFamily="18" charset="0"/>
                <a:cs typeface="Times New Roman" panose="02020603050405020304" pitchFamily="18" charset="0"/>
              </a:rPr>
              <a:t>   Displays student risk levels, insights, alerts, and intervention tools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0917A-F603-0691-CF04-B37D2E976A77}"/>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4311A61-8177-14FB-AFEC-277646187340}"/>
              </a:ext>
            </a:extLst>
          </p:cNvPr>
          <p:cNvPicPr>
            <a:picLocks noGrp="1" noChangeAspect="1"/>
          </p:cNvPicPr>
          <p:nvPr>
            <p:ph idx="1"/>
          </p:nvPr>
        </p:nvPicPr>
        <p:blipFill>
          <a:blip r:embed="rId2"/>
          <a:stretch>
            <a:fillRect/>
          </a:stretch>
        </p:blipFill>
        <p:spPr>
          <a:xfrm>
            <a:off x="1981200" y="563231"/>
            <a:ext cx="8229600" cy="5731538"/>
          </a:xfrm>
          <a:prstGeom prst="rect">
            <a:avLst/>
          </a:prstGeom>
        </p:spPr>
      </p:pic>
    </p:spTree>
    <p:extLst>
      <p:ext uri="{BB962C8B-B14F-4D97-AF65-F5344CB8AC3E}">
        <p14:creationId xmlns:p14="http://schemas.microsoft.com/office/powerpoint/2010/main" val="2853894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557D5-24F9-475C-4ABD-3C7DD4AA76D2}"/>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7106C4B-B544-481E-F140-3AB1EEEE54FC}"/>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96231" y="166165"/>
            <a:ext cx="11999537" cy="6062918"/>
          </a:xfrm>
          <a:prstGeom prst="rect">
            <a:avLst/>
          </a:prstGeom>
        </p:spPr>
      </p:pic>
    </p:spTree>
    <p:extLst>
      <p:ext uri="{BB962C8B-B14F-4D97-AF65-F5344CB8AC3E}">
        <p14:creationId xmlns:p14="http://schemas.microsoft.com/office/powerpoint/2010/main" val="2734992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02024-594A-DDDB-DC7E-A6D4E67FC69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722A15-D43C-9643-E816-9215CA737170}"/>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942575" y="402466"/>
            <a:ext cx="10306849" cy="6364094"/>
          </a:xfrm>
          <a:prstGeom prst="rect">
            <a:avLst/>
          </a:prstGeom>
        </p:spPr>
      </p:pic>
    </p:spTree>
    <p:extLst>
      <p:ext uri="{BB962C8B-B14F-4D97-AF65-F5344CB8AC3E}">
        <p14:creationId xmlns:p14="http://schemas.microsoft.com/office/powerpoint/2010/main" val="3733571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A3989-0199-073F-8C8B-408063AF0554}"/>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0EC56E8-74D0-B43D-2FC2-1D00E8EDF65E}"/>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199536" y="7893"/>
            <a:ext cx="9832258" cy="6850107"/>
          </a:xfrm>
          <a:prstGeom prst="rect">
            <a:avLst/>
          </a:prstGeom>
        </p:spPr>
      </p:pic>
    </p:spTree>
    <p:extLst>
      <p:ext uri="{BB962C8B-B14F-4D97-AF65-F5344CB8AC3E}">
        <p14:creationId xmlns:p14="http://schemas.microsoft.com/office/powerpoint/2010/main" val="2667701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265FA-E2E4-FFAB-2FB7-1EE62382E066}"/>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E25CF3B-18D0-B9F9-ACA2-45714734A090}"/>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864512" y="68826"/>
            <a:ext cx="7397475" cy="6789174"/>
          </a:xfrm>
          <a:prstGeom prst="rect">
            <a:avLst/>
          </a:prstGeom>
        </p:spPr>
      </p:pic>
    </p:spTree>
    <p:extLst>
      <p:ext uri="{BB962C8B-B14F-4D97-AF65-F5344CB8AC3E}">
        <p14:creationId xmlns:p14="http://schemas.microsoft.com/office/powerpoint/2010/main" val="993174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F789-B761-C619-3ED2-280616F28B4B}"/>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E8B8606-12C7-F873-9A66-DE8E0567C0C2}"/>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58993" y="834925"/>
            <a:ext cx="12074013" cy="5373282"/>
          </a:xfrm>
          <a:prstGeom prst="rect">
            <a:avLst/>
          </a:prstGeom>
        </p:spPr>
      </p:pic>
    </p:spTree>
    <p:extLst>
      <p:ext uri="{BB962C8B-B14F-4D97-AF65-F5344CB8AC3E}">
        <p14:creationId xmlns:p14="http://schemas.microsoft.com/office/powerpoint/2010/main" val="208065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1E9CD-69D9-4BAF-9095-5ECB9D44C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84A12-8308-9DAA-A256-CA54EE0C3788}"/>
              </a:ext>
            </a:extLst>
          </p:cNvPr>
          <p:cNvSpPr>
            <a:spLocks noGrp="1"/>
          </p:cNvSpPr>
          <p:nvPr>
            <p:ph type="title"/>
          </p:nvPr>
        </p:nvSpPr>
        <p:spPr>
          <a:xfrm>
            <a:off x="0" y="283805"/>
            <a:ext cx="9394723" cy="1143000"/>
          </a:xfrm>
        </p:spPr>
        <p:txBody>
          <a:bodyPr>
            <a:normAutofit/>
          </a:bodyPr>
          <a:lstStyle/>
          <a:p>
            <a:r>
              <a:rPr lang="en-IN" dirty="0">
                <a:latin typeface="Times New Roman" panose="02020603050405020304" pitchFamily="18" charset="0"/>
                <a:cs typeface="Times New Roman" panose="02020603050405020304" pitchFamily="18" charset="0"/>
              </a:rPr>
              <a:t>Software Design (Block Diagram )</a:t>
            </a:r>
            <a:endParaRPr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A1BE9096-C539-EB3B-6E26-95A11C9340D7}"/>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76304" y="108155"/>
            <a:ext cx="11839391" cy="6749845"/>
          </a:xfrm>
          <a:prstGeom prst="rect">
            <a:avLst/>
          </a:prstGeom>
        </p:spPr>
      </p:pic>
    </p:spTree>
    <p:extLst>
      <p:ext uri="{BB962C8B-B14F-4D97-AF65-F5344CB8AC3E}">
        <p14:creationId xmlns:p14="http://schemas.microsoft.com/office/powerpoint/2010/main" val="3576987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5A1A4-5AE0-EB1C-62DC-469CDB038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5BBDA-485F-9FF6-B145-F1FC5AF9CDC9}"/>
              </a:ext>
            </a:extLst>
          </p:cNvPr>
          <p:cNvSpPr>
            <a:spLocks noGrp="1"/>
          </p:cNvSpPr>
          <p:nvPr>
            <p:ph type="title"/>
          </p:nvPr>
        </p:nvSpPr>
        <p:spPr>
          <a:xfrm>
            <a:off x="0" y="283805"/>
            <a:ext cx="9394723" cy="1143000"/>
          </a:xfrm>
        </p:spPr>
        <p:txBody>
          <a:bodyPr>
            <a:normAutofit/>
          </a:bodyPr>
          <a:lstStyle/>
          <a:p>
            <a:r>
              <a:rPr lang="en-IN" dirty="0">
                <a:latin typeface="Times New Roman" panose="02020603050405020304" pitchFamily="18" charset="0"/>
                <a:cs typeface="Times New Roman" panose="02020603050405020304" pitchFamily="18" charset="0"/>
              </a:rPr>
              <a:t>Software Design (Block Diagram )</a:t>
            </a:r>
            <a:endParaRPr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D38A0702-649A-3375-6153-06159011EBAC}"/>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255576" y="283805"/>
            <a:ext cx="11936424" cy="5890189"/>
          </a:xfrm>
          <a:prstGeom prst="rect">
            <a:avLst/>
          </a:prstGeom>
        </p:spPr>
      </p:pic>
    </p:spTree>
    <p:extLst>
      <p:ext uri="{BB962C8B-B14F-4D97-AF65-F5344CB8AC3E}">
        <p14:creationId xmlns:p14="http://schemas.microsoft.com/office/powerpoint/2010/main" val="2986874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A431-3213-4C87-9F45-5FBB1D4589D8}"/>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2BE46C6-B0F8-D349-3DCA-29B76170F966}"/>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538748" y="812082"/>
            <a:ext cx="8229600" cy="891103"/>
          </a:xfrm>
          <a:prstGeom prst="rect">
            <a:avLst/>
          </a:prstGeom>
        </p:spPr>
      </p:pic>
      <p:pic>
        <p:nvPicPr>
          <p:cNvPr id="11" name="Graphic 10">
            <a:extLst>
              <a:ext uri="{FF2B5EF4-FFF2-40B4-BE49-F238E27FC236}">
                <a16:creationId xmlns:a16="http://schemas.microsoft.com/office/drawing/2014/main" id="{8AD717E2-5943-EC54-7054-0F9F039D0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737" y="2312424"/>
            <a:ext cx="11820525" cy="3924300"/>
          </a:xfrm>
          <a:prstGeom prst="rect">
            <a:avLst/>
          </a:prstGeom>
        </p:spPr>
      </p:pic>
      <p:sp>
        <p:nvSpPr>
          <p:cNvPr id="12" name="Title 1">
            <a:extLst>
              <a:ext uri="{FF2B5EF4-FFF2-40B4-BE49-F238E27FC236}">
                <a16:creationId xmlns:a16="http://schemas.microsoft.com/office/drawing/2014/main" id="{0458FC1F-DF8F-D331-287E-E5429BC3E77D}"/>
              </a:ext>
            </a:extLst>
          </p:cNvPr>
          <p:cNvSpPr>
            <a:spLocks noGrp="1"/>
          </p:cNvSpPr>
          <p:nvPr>
            <p:ph type="title"/>
          </p:nvPr>
        </p:nvSpPr>
        <p:spPr>
          <a:xfrm>
            <a:off x="-3200400" y="-64037"/>
            <a:ext cx="8229600" cy="1143000"/>
          </a:xfrm>
        </p:spPr>
        <p:txBody>
          <a:bodyPr>
            <a:normAutofit/>
          </a:bodyPr>
          <a:lstStyle/>
          <a:p>
            <a:r>
              <a:rPr lang="en-IN" sz="2000" dirty="0">
                <a:latin typeface="Times New Roman" panose="02020603050405020304" pitchFamily="18" charset="0"/>
                <a:cs typeface="Times New Roman" panose="02020603050405020304" pitchFamily="18" charset="0"/>
              </a:rPr>
              <a:t>LEVEL-0</a:t>
            </a:r>
            <a:endParaRPr sz="2000" dirty="0">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83C15753-E554-840C-9B8F-301543AC302B}"/>
              </a:ext>
            </a:extLst>
          </p:cNvPr>
          <p:cNvSpPr txBox="1">
            <a:spLocks/>
          </p:cNvSpPr>
          <p:nvPr/>
        </p:nvSpPr>
        <p:spPr>
          <a:xfrm>
            <a:off x="-3200400" y="1468132"/>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2000" dirty="0">
                <a:latin typeface="Times New Roman" panose="02020603050405020304" pitchFamily="18" charset="0"/>
                <a:cs typeface="Times New Roman" panose="02020603050405020304" pitchFamily="18" charset="0"/>
              </a:rPr>
              <a:t>LEVEL-1</a:t>
            </a:r>
          </a:p>
        </p:txBody>
      </p:sp>
    </p:spTree>
    <p:extLst>
      <p:ext uri="{BB962C8B-B14F-4D97-AF65-F5344CB8AC3E}">
        <p14:creationId xmlns:p14="http://schemas.microsoft.com/office/powerpoint/2010/main" val="2219779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7CAF-E70E-3069-F380-6E70A8167E05}"/>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02B96290-7725-DF85-37E6-83888D8FAB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25040" y="0"/>
            <a:ext cx="7467600" cy="6858000"/>
          </a:xfrm>
          <a:prstGeom prst="rect">
            <a:avLst/>
          </a:prstGeom>
        </p:spPr>
      </p:pic>
    </p:spTree>
    <p:extLst>
      <p:ext uri="{BB962C8B-B14F-4D97-AF65-F5344CB8AC3E}">
        <p14:creationId xmlns:p14="http://schemas.microsoft.com/office/powerpoint/2010/main" val="466499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3840-5240-CE28-4222-7D35B93A54A9}"/>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E258510A-722F-A812-0367-A75735CDEE0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 y="512080"/>
            <a:ext cx="11938000" cy="5833839"/>
          </a:xfrm>
          <a:prstGeom prst="rect">
            <a:avLst/>
          </a:prstGeom>
        </p:spPr>
      </p:pic>
    </p:spTree>
    <p:extLst>
      <p:ext uri="{BB962C8B-B14F-4D97-AF65-F5344CB8AC3E}">
        <p14:creationId xmlns:p14="http://schemas.microsoft.com/office/powerpoint/2010/main" val="1156403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9E663-0C6F-0146-571E-F84BC7146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54FF2-3903-DAB0-9DDF-D57AA6E7ED89}"/>
              </a:ext>
            </a:extLst>
          </p:cNvPr>
          <p:cNvSpPr>
            <a:spLocks noGrp="1"/>
          </p:cNvSpPr>
          <p:nvPr>
            <p:ph type="title"/>
          </p:nvPr>
        </p:nvSpPr>
        <p:spPr>
          <a:xfrm>
            <a:off x="-1576767" y="283805"/>
            <a:ext cx="9394723" cy="1143000"/>
          </a:xfrm>
        </p:spPr>
        <p:txBody>
          <a:bodyPr>
            <a:normAutofit/>
          </a:bodyPr>
          <a:lstStyle/>
          <a:p>
            <a:r>
              <a:rPr lang="en-IN" dirty="0">
                <a:latin typeface="Times New Roman" panose="02020603050405020304" pitchFamily="18" charset="0"/>
                <a:cs typeface="Times New Roman" panose="02020603050405020304" pitchFamily="18" charset="0"/>
              </a:rPr>
              <a:t>Performance &amp; Security</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6D5EFD-6828-4AD6-83AE-A358F8676E02}"/>
              </a:ext>
            </a:extLst>
          </p:cNvPr>
          <p:cNvSpPr>
            <a:spLocks noGrp="1"/>
          </p:cNvSpPr>
          <p:nvPr>
            <p:ph idx="1"/>
          </p:nvPr>
        </p:nvSpPr>
        <p:spPr>
          <a:xfrm>
            <a:off x="457199" y="1600200"/>
            <a:ext cx="10466440" cy="4525963"/>
          </a:xfrm>
        </p:spPr>
        <p:txBody>
          <a:bodyPr>
            <a:normAutofit fontScale="85000" lnSpcReduction="20000"/>
          </a:bodyPr>
          <a:lstStyle/>
          <a:p>
            <a:pPr marL="0" indent="0" algn="just">
              <a:buNone/>
              <a:defRPr sz="2400"/>
            </a:pPr>
            <a:r>
              <a:rPr lang="en-US" dirty="0">
                <a:latin typeface="Times New Roman" panose="02020603050405020304" pitchFamily="18" charset="0"/>
                <a:cs typeface="Times New Roman" panose="02020603050405020304" pitchFamily="18" charset="0"/>
              </a:rPr>
              <a:t>Performance Focus:</a:t>
            </a:r>
          </a:p>
          <a:p>
            <a:pPr marL="0" indent="0" algn="just">
              <a:buNone/>
              <a:defRPr sz="2400"/>
            </a:pPr>
            <a:endParaRPr lang="en-US" dirty="0">
              <a:latin typeface="Times New Roman" panose="02020603050405020304" pitchFamily="18" charset="0"/>
              <a:cs typeface="Times New Roman" panose="02020603050405020304" pitchFamily="18" charset="0"/>
            </a:endParaRPr>
          </a:p>
          <a:p>
            <a:pPr marL="0" indent="0" algn="just">
              <a:buNone/>
              <a:defRPr sz="2400"/>
            </a:pPr>
            <a:r>
              <a:rPr lang="en-US" dirty="0">
                <a:latin typeface="Times New Roman" panose="02020603050405020304" pitchFamily="18" charset="0"/>
                <a:cs typeface="Times New Roman" panose="02020603050405020304" pitchFamily="18" charset="0"/>
              </a:rPr>
              <a:t>• Fast response time for chatbot interactions  </a:t>
            </a:r>
          </a:p>
          <a:p>
            <a:pPr marL="0" indent="0" algn="just">
              <a:buNone/>
              <a:defRPr sz="2400"/>
            </a:pPr>
            <a:r>
              <a:rPr lang="en-US" dirty="0">
                <a:latin typeface="Times New Roman" panose="02020603050405020304" pitchFamily="18" charset="0"/>
                <a:cs typeface="Times New Roman" panose="02020603050405020304" pitchFamily="18" charset="0"/>
              </a:rPr>
              <a:t>• Real-time student risk prediction and dashboard updates  </a:t>
            </a:r>
          </a:p>
          <a:p>
            <a:pPr marL="0" indent="0" algn="just">
              <a:buNone/>
              <a:defRPr sz="2400"/>
            </a:pPr>
            <a:r>
              <a:rPr lang="en-US" dirty="0">
                <a:latin typeface="Times New Roman" panose="02020603050405020304" pitchFamily="18" charset="0"/>
                <a:cs typeface="Times New Roman" panose="02020603050405020304" pitchFamily="18" charset="0"/>
              </a:rPr>
              <a:t>• Scalable backend architecture using Flask APIs  </a:t>
            </a:r>
          </a:p>
          <a:p>
            <a:pPr marL="0" indent="0" algn="just">
              <a:buNone/>
              <a:defRPr sz="2400"/>
            </a:pPr>
            <a:r>
              <a:rPr lang="en-US" dirty="0">
                <a:latin typeface="Times New Roman" panose="02020603050405020304" pitchFamily="18" charset="0"/>
                <a:cs typeface="Times New Roman" panose="02020603050405020304" pitchFamily="18" charset="0"/>
              </a:rPr>
              <a:t>• Efficient model inference with optimized Random Forest classifier  </a:t>
            </a:r>
          </a:p>
          <a:p>
            <a:pPr marL="0" indent="0" algn="just">
              <a:buNone/>
              <a:defRPr sz="2400"/>
            </a:pPr>
            <a:endParaRPr lang="en-US" dirty="0">
              <a:latin typeface="Times New Roman" panose="02020603050405020304" pitchFamily="18" charset="0"/>
              <a:cs typeface="Times New Roman" panose="02020603050405020304" pitchFamily="18" charset="0"/>
            </a:endParaRPr>
          </a:p>
          <a:p>
            <a:pPr marL="0" indent="0" algn="just">
              <a:buNone/>
              <a:defRPr sz="2400"/>
            </a:pPr>
            <a:r>
              <a:rPr lang="en-US" dirty="0">
                <a:latin typeface="Times New Roman" panose="02020603050405020304" pitchFamily="18" charset="0"/>
                <a:cs typeface="Times New Roman" panose="02020603050405020304" pitchFamily="18" charset="0"/>
              </a:rPr>
              <a:t>Security Measures:</a:t>
            </a:r>
          </a:p>
          <a:p>
            <a:pPr marL="0" indent="0" algn="just">
              <a:buNone/>
              <a:defRPr sz="2400"/>
            </a:pPr>
            <a:endParaRPr lang="en-US" dirty="0">
              <a:latin typeface="Times New Roman" panose="02020603050405020304" pitchFamily="18" charset="0"/>
              <a:cs typeface="Times New Roman" panose="02020603050405020304" pitchFamily="18" charset="0"/>
            </a:endParaRPr>
          </a:p>
          <a:p>
            <a:pPr marL="0" indent="0" algn="just">
              <a:buNone/>
              <a:defRPr sz="2400"/>
            </a:pPr>
            <a:r>
              <a:rPr lang="en-US" dirty="0">
                <a:latin typeface="Times New Roman" panose="02020603050405020304" pitchFamily="18" charset="0"/>
                <a:cs typeface="Times New Roman" panose="02020603050405020304" pitchFamily="18" charset="0"/>
              </a:rPr>
              <a:t>• JWT-based secure authentication  </a:t>
            </a:r>
          </a:p>
          <a:p>
            <a:pPr marL="0" indent="0" algn="just">
              <a:buNone/>
              <a:defRPr sz="2400"/>
            </a:pPr>
            <a:r>
              <a:rPr lang="en-US" dirty="0">
                <a:latin typeface="Times New Roman" panose="02020603050405020304" pitchFamily="18" charset="0"/>
                <a:cs typeface="Times New Roman" panose="02020603050405020304" pitchFamily="18" charset="0"/>
              </a:rPr>
              <a:t>• Role-based access for Admin and Mentor users  </a:t>
            </a:r>
          </a:p>
          <a:p>
            <a:pPr marL="0" indent="0" algn="just">
              <a:buNone/>
              <a:defRPr sz="2400"/>
            </a:pPr>
            <a:r>
              <a:rPr lang="en-US" dirty="0">
                <a:latin typeface="Times New Roman" panose="02020603050405020304" pitchFamily="18" charset="0"/>
                <a:cs typeface="Times New Roman" panose="02020603050405020304" pitchFamily="18" charset="0"/>
              </a:rPr>
              <a:t>• Encrypted API communication using HTTPS  </a:t>
            </a:r>
          </a:p>
          <a:p>
            <a:pPr marL="0" indent="0" algn="just">
              <a:buNone/>
              <a:defRPr sz="2400"/>
            </a:pPr>
            <a:r>
              <a:rPr lang="en-US" dirty="0">
                <a:latin typeface="Times New Roman" panose="02020603050405020304" pitchFamily="18" charset="0"/>
                <a:cs typeface="Times New Roman" panose="02020603050405020304" pitchFamily="18" charset="0"/>
              </a:rPr>
              <a:t>• Secure password storage using hashing  </a:t>
            </a:r>
          </a:p>
          <a:p>
            <a:pPr marL="0" indent="0" algn="just">
              <a:buNone/>
              <a:defRPr sz="2400"/>
            </a:pPr>
            <a:r>
              <a:rPr lang="en-US" dirty="0">
                <a:latin typeface="Times New Roman" panose="02020603050405020304" pitchFamily="18" charset="0"/>
                <a:cs typeface="Times New Roman" panose="02020603050405020304" pitchFamily="18" charset="0"/>
              </a:rPr>
              <a:t>• Protected student records with access control</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081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676F6-71F9-4D37-32EA-7282EC930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FA85A-32B4-026F-116D-C7F63205D613}"/>
              </a:ext>
            </a:extLst>
          </p:cNvPr>
          <p:cNvSpPr>
            <a:spLocks noGrp="1"/>
          </p:cNvSpPr>
          <p:nvPr>
            <p:ph type="title"/>
          </p:nvPr>
        </p:nvSpPr>
        <p:spPr>
          <a:xfrm>
            <a:off x="140273" y="283130"/>
            <a:ext cx="9394723" cy="1143000"/>
          </a:xfrm>
        </p:spPr>
        <p:txBody>
          <a:bodyPr>
            <a:normAutofit/>
          </a:bodyPr>
          <a:lstStyle/>
          <a:p>
            <a:pPr algn="l"/>
            <a:r>
              <a:rPr lang="en-IN" dirty="0">
                <a:latin typeface="Times New Roman" panose="02020603050405020304" pitchFamily="18" charset="0"/>
                <a:cs typeface="Times New Roman" panose="02020603050405020304" pitchFamily="18" charset="0"/>
              </a:rPr>
              <a:t>TECHNOLOGY STACK </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6F461E-6E62-DF59-166A-3C13B2D56111}"/>
              </a:ext>
            </a:extLst>
          </p:cNvPr>
          <p:cNvSpPr>
            <a:spLocks noGrp="1"/>
          </p:cNvSpPr>
          <p:nvPr>
            <p:ph idx="1"/>
          </p:nvPr>
        </p:nvSpPr>
        <p:spPr>
          <a:xfrm>
            <a:off x="457198" y="1253410"/>
            <a:ext cx="12080241" cy="4700033"/>
          </a:xfrm>
        </p:spPr>
        <p:txBody>
          <a:bodyPr>
            <a:noAutofit/>
          </a:bodyPr>
          <a:lstStyle/>
          <a:p>
            <a:pPr marL="0" indent="0" algn="just">
              <a:buNone/>
              <a:defRPr sz="2400"/>
            </a:pPr>
            <a:r>
              <a:rPr lang="en-US" sz="1600" dirty="0">
                <a:latin typeface="Times New Roman" panose="02020603050405020304" pitchFamily="18" charset="0"/>
                <a:cs typeface="Times New Roman" panose="02020603050405020304" pitchFamily="18" charset="0"/>
              </a:rPr>
              <a:t>Frontend:</a:t>
            </a:r>
          </a:p>
          <a:p>
            <a:pPr marL="0" indent="0" algn="just">
              <a:buNone/>
              <a:defRPr sz="2400"/>
            </a:pPr>
            <a:r>
              <a:rPr lang="en-US" sz="1600" dirty="0">
                <a:latin typeface="Times New Roman" panose="02020603050405020304" pitchFamily="18" charset="0"/>
                <a:cs typeface="Times New Roman" panose="02020603050405020304" pitchFamily="18" charset="0"/>
              </a:rPr>
              <a:t>• React.js  </a:t>
            </a:r>
          </a:p>
          <a:p>
            <a:pPr marL="0" indent="0" algn="just">
              <a:buNone/>
              <a:defRPr sz="2400"/>
            </a:pPr>
            <a:r>
              <a:rPr lang="en-US" sz="1600" dirty="0">
                <a:latin typeface="Times New Roman" panose="02020603050405020304" pitchFamily="18" charset="0"/>
                <a:cs typeface="Times New Roman" panose="02020603050405020304" pitchFamily="18" charset="0"/>
              </a:rPr>
              <a:t>  Chosen for fast, responsive, and component-based UI development  </a:t>
            </a:r>
          </a:p>
          <a:p>
            <a:pPr marL="0" indent="0" algn="just">
              <a:buNone/>
              <a:defRPr sz="2400"/>
            </a:pPr>
            <a:endParaRPr lang="en-US" sz="1600" dirty="0">
              <a:latin typeface="Times New Roman" panose="02020603050405020304" pitchFamily="18" charset="0"/>
              <a:cs typeface="Times New Roman" panose="02020603050405020304" pitchFamily="18" charset="0"/>
            </a:endParaRPr>
          </a:p>
          <a:p>
            <a:pPr marL="0" indent="0" algn="just">
              <a:buNone/>
              <a:defRPr sz="2400"/>
            </a:pPr>
            <a:r>
              <a:rPr lang="en-US" sz="1600" dirty="0">
                <a:latin typeface="Times New Roman" panose="02020603050405020304" pitchFamily="18" charset="0"/>
                <a:cs typeface="Times New Roman" panose="02020603050405020304" pitchFamily="18" charset="0"/>
              </a:rPr>
              <a:t>Backend:</a:t>
            </a:r>
          </a:p>
          <a:p>
            <a:pPr marL="0" indent="0" algn="just">
              <a:buNone/>
              <a:defRPr sz="2400"/>
            </a:pPr>
            <a:r>
              <a:rPr lang="en-US" sz="1600" dirty="0">
                <a:latin typeface="Times New Roman" panose="02020603050405020304" pitchFamily="18" charset="0"/>
                <a:cs typeface="Times New Roman" panose="02020603050405020304" pitchFamily="18" charset="0"/>
              </a:rPr>
              <a:t>• Flask  </a:t>
            </a:r>
          </a:p>
          <a:p>
            <a:pPr marL="0" indent="0" algn="just">
              <a:buNone/>
              <a:defRPr sz="2400"/>
            </a:pPr>
            <a:r>
              <a:rPr lang="en-US" sz="1600" dirty="0">
                <a:latin typeface="Times New Roman" panose="02020603050405020304" pitchFamily="18" charset="0"/>
                <a:cs typeface="Times New Roman" panose="02020603050405020304" pitchFamily="18" charset="0"/>
              </a:rPr>
              <a:t>  Lightweight and efficient for REST API development  </a:t>
            </a:r>
          </a:p>
          <a:p>
            <a:pPr marL="0" indent="0" algn="just">
              <a:buNone/>
              <a:defRPr sz="2400"/>
            </a:pPr>
            <a:endParaRPr lang="en-US" sz="1600" dirty="0">
              <a:latin typeface="Times New Roman" panose="02020603050405020304" pitchFamily="18" charset="0"/>
              <a:cs typeface="Times New Roman" panose="02020603050405020304" pitchFamily="18" charset="0"/>
            </a:endParaRPr>
          </a:p>
          <a:p>
            <a:pPr marL="0" indent="0" algn="just">
              <a:buNone/>
              <a:defRPr sz="2400"/>
            </a:pPr>
            <a:r>
              <a:rPr lang="en-US" sz="1600" dirty="0">
                <a:latin typeface="Times New Roman" panose="02020603050405020304" pitchFamily="18" charset="0"/>
                <a:cs typeface="Times New Roman" panose="02020603050405020304" pitchFamily="18" charset="0"/>
              </a:rPr>
              <a:t>Database:</a:t>
            </a:r>
          </a:p>
          <a:p>
            <a:pPr marL="0" indent="0" algn="just">
              <a:buNone/>
              <a:defRPr sz="2400"/>
            </a:pPr>
            <a:r>
              <a:rPr lang="en-US" sz="1600" dirty="0">
                <a:latin typeface="Times New Roman" panose="02020603050405020304" pitchFamily="18" charset="0"/>
                <a:cs typeface="Times New Roman" panose="02020603050405020304" pitchFamily="18" charset="0"/>
              </a:rPr>
              <a:t>• MySQL  </a:t>
            </a:r>
          </a:p>
          <a:p>
            <a:pPr marL="0" indent="0" algn="just">
              <a:buNone/>
              <a:defRPr sz="2400"/>
            </a:pPr>
            <a:r>
              <a:rPr lang="en-US" sz="1600" dirty="0">
                <a:latin typeface="Times New Roman" panose="02020603050405020304" pitchFamily="18" charset="0"/>
                <a:cs typeface="Times New Roman" panose="02020603050405020304" pitchFamily="18" charset="0"/>
              </a:rPr>
              <a:t>  Reliable relational database for structured student records  </a:t>
            </a:r>
          </a:p>
          <a:p>
            <a:pPr marL="0" indent="0" algn="just">
              <a:buNone/>
              <a:defRPr sz="2400"/>
            </a:pPr>
            <a:endParaRPr lang="en-US" sz="1600" dirty="0">
              <a:latin typeface="Times New Roman" panose="02020603050405020304" pitchFamily="18" charset="0"/>
              <a:cs typeface="Times New Roman" panose="02020603050405020304" pitchFamily="18" charset="0"/>
            </a:endParaRPr>
          </a:p>
          <a:p>
            <a:pPr marL="0" indent="0" algn="just">
              <a:buNone/>
              <a:defRPr sz="2400"/>
            </a:pPr>
            <a:r>
              <a:rPr lang="en-US" sz="1600" dirty="0">
                <a:latin typeface="Times New Roman" panose="02020603050405020304" pitchFamily="18" charset="0"/>
                <a:cs typeface="Times New Roman" panose="02020603050405020304" pitchFamily="18" charset="0"/>
              </a:rPr>
              <a:t>AI / NLP:</a:t>
            </a:r>
          </a:p>
          <a:p>
            <a:pPr marL="0" indent="0" algn="just">
              <a:buNone/>
              <a:defRPr sz="2400"/>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LangChain</a:t>
            </a:r>
            <a:r>
              <a:rPr lang="en-US" sz="1600" dirty="0">
                <a:latin typeface="Times New Roman" panose="02020603050405020304" pitchFamily="18" charset="0"/>
                <a:cs typeface="Times New Roman" panose="02020603050405020304" pitchFamily="18" charset="0"/>
              </a:rPr>
              <a:t> + Google Gemini API  </a:t>
            </a:r>
          </a:p>
          <a:p>
            <a:pPr marL="0" indent="0" algn="just">
              <a:buNone/>
              <a:defRPr sz="2400"/>
            </a:pPr>
            <a:r>
              <a:rPr lang="en-US" sz="1600" dirty="0">
                <a:latin typeface="Times New Roman" panose="02020603050405020304" pitchFamily="18" charset="0"/>
                <a:cs typeface="Times New Roman" panose="02020603050405020304" pitchFamily="18" charset="0"/>
              </a:rPr>
              <a:t>  Enables conversational AI and intelligent student interaction  </a:t>
            </a:r>
          </a:p>
          <a:p>
            <a:pPr marL="0" indent="0" algn="just">
              <a:buNone/>
              <a:defRPr sz="2400"/>
            </a:pPr>
            <a:endParaRPr lang="en-US" sz="1600" dirty="0">
              <a:latin typeface="Times New Roman" panose="02020603050405020304" pitchFamily="18" charset="0"/>
              <a:cs typeface="Times New Roman" panose="02020603050405020304" pitchFamily="18" charset="0"/>
            </a:endParaRPr>
          </a:p>
          <a:p>
            <a:pPr marL="0" indent="0" algn="just">
              <a:buNone/>
              <a:defRPr sz="2400"/>
            </a:pPr>
            <a:r>
              <a:rPr lang="en-US" sz="1600" dirty="0">
                <a:latin typeface="Times New Roman" panose="02020603050405020304" pitchFamily="18" charset="0"/>
                <a:cs typeface="Times New Roman" panose="02020603050405020304" pitchFamily="18" charset="0"/>
              </a:rPr>
              <a:t>Machine Learning:</a:t>
            </a:r>
          </a:p>
          <a:p>
            <a:pPr marL="0" indent="0" algn="just">
              <a:buNone/>
              <a:defRPr sz="2400"/>
            </a:pPr>
            <a:r>
              <a:rPr lang="en-US" sz="1600" dirty="0">
                <a:latin typeface="Times New Roman" panose="02020603050405020304" pitchFamily="18" charset="0"/>
                <a:cs typeface="Times New Roman" panose="02020603050405020304" pitchFamily="18" charset="0"/>
              </a:rPr>
              <a:t>• Random Forest  </a:t>
            </a:r>
          </a:p>
          <a:p>
            <a:pPr marL="0" indent="0" algn="just">
              <a:buNone/>
              <a:defRPr sz="2400"/>
            </a:pPr>
            <a:r>
              <a:rPr lang="en-US" sz="1600" dirty="0">
                <a:latin typeface="Times New Roman" panose="02020603050405020304" pitchFamily="18" charset="0"/>
                <a:cs typeface="Times New Roman" panose="02020603050405020304" pitchFamily="18" charset="0"/>
              </a:rPr>
              <a:t>  Selected for accurate and interpretable dropout prediction</a:t>
            </a:r>
            <a:endParaRP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570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30FB-32F5-CB4C-0267-088A7ECE6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4B7C4-E4D6-0676-AFC7-ED4DECF2868D}"/>
              </a:ext>
            </a:extLst>
          </p:cNvPr>
          <p:cNvSpPr>
            <a:spLocks noGrp="1"/>
          </p:cNvSpPr>
          <p:nvPr>
            <p:ph type="title"/>
          </p:nvPr>
        </p:nvSpPr>
        <p:spPr>
          <a:xfrm>
            <a:off x="140273" y="283130"/>
            <a:ext cx="9394723" cy="1143000"/>
          </a:xfrm>
        </p:spPr>
        <p:txBody>
          <a:bodyPr>
            <a:normAutofit/>
          </a:bodyPr>
          <a:lstStyle/>
          <a:p>
            <a:pPr algn="l"/>
            <a:r>
              <a:rPr lang="en-IN" dirty="0">
                <a:latin typeface="Times New Roman" panose="02020603050405020304" pitchFamily="18" charset="0"/>
                <a:cs typeface="Times New Roman" panose="02020603050405020304" pitchFamily="18" charset="0"/>
              </a:rPr>
              <a:t>Comparison with Existing Systems</a:t>
            </a:r>
            <a:endParaRPr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092457D-71D3-E845-5272-BAC9643131BC}"/>
              </a:ext>
            </a:extLst>
          </p:cNvPr>
          <p:cNvGraphicFramePr>
            <a:graphicFrameLocks noGrp="1"/>
          </p:cNvGraphicFramePr>
          <p:nvPr>
            <p:extLst>
              <p:ext uri="{D42A27DB-BD31-4B8C-83A1-F6EECF244321}">
                <p14:modId xmlns:p14="http://schemas.microsoft.com/office/powerpoint/2010/main" val="2732676488"/>
              </p:ext>
            </p:extLst>
          </p:nvPr>
        </p:nvGraphicFramePr>
        <p:xfrm>
          <a:off x="457198" y="1602580"/>
          <a:ext cx="8127999" cy="4491848"/>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287981183"/>
                    </a:ext>
                  </a:extLst>
                </a:gridCol>
                <a:gridCol w="2709333">
                  <a:extLst>
                    <a:ext uri="{9D8B030D-6E8A-4147-A177-3AD203B41FA5}">
                      <a16:colId xmlns:a16="http://schemas.microsoft.com/office/drawing/2014/main" val="1408121142"/>
                    </a:ext>
                  </a:extLst>
                </a:gridCol>
                <a:gridCol w="2709333">
                  <a:extLst>
                    <a:ext uri="{9D8B030D-6E8A-4147-A177-3AD203B41FA5}">
                      <a16:colId xmlns:a16="http://schemas.microsoft.com/office/drawing/2014/main" val="898946809"/>
                    </a:ext>
                  </a:extLst>
                </a:gridCol>
              </a:tblGrid>
              <a:tr h="482882">
                <a:tc>
                  <a:txBody>
                    <a:bodyPr/>
                    <a:lstStyle/>
                    <a:p>
                      <a:r>
                        <a:rPr lang="en-IN" b="1" dirty="0">
                          <a:latin typeface="Times New Roman" panose="02020603050405020304" pitchFamily="18" charset="0"/>
                          <a:cs typeface="Times New Roman" panose="02020603050405020304" pitchFamily="18" charset="0"/>
                        </a:rPr>
                        <a:t>Feature</a:t>
                      </a:r>
                    </a:p>
                  </a:txBody>
                  <a:tcPr/>
                </a:tc>
                <a:tc>
                  <a:txBody>
                    <a:bodyPr/>
                    <a:lstStyle/>
                    <a:p>
                      <a:r>
                        <a:rPr lang="en-IN" b="1" dirty="0">
                          <a:latin typeface="Times New Roman" panose="02020603050405020304" pitchFamily="18" charset="0"/>
                          <a:cs typeface="Times New Roman" panose="02020603050405020304" pitchFamily="18" charset="0"/>
                        </a:rPr>
                        <a:t>Existing Systems</a:t>
                      </a:r>
                    </a:p>
                  </a:txBody>
                  <a:tcPr/>
                </a:tc>
                <a:tc>
                  <a:txBody>
                    <a:bodyPr/>
                    <a:lstStyle/>
                    <a:p>
                      <a:r>
                        <a:rPr lang="en-IN" b="1" dirty="0">
                          <a:latin typeface="Times New Roman" panose="02020603050405020304" pitchFamily="18" charset="0"/>
                          <a:cs typeface="Times New Roman" panose="02020603050405020304" pitchFamily="18" charset="0"/>
                        </a:rPr>
                        <a:t>Proposed System</a:t>
                      </a:r>
                    </a:p>
                  </a:txBody>
                  <a:tcPr/>
                </a:tc>
                <a:extLst>
                  <a:ext uri="{0D108BD9-81ED-4DB2-BD59-A6C34878D82A}">
                    <a16:rowId xmlns:a16="http://schemas.microsoft.com/office/drawing/2014/main" val="3461736769"/>
                  </a:ext>
                </a:extLst>
              </a:tr>
              <a:tr h="482882">
                <a:tc>
                  <a:txBody>
                    <a:bodyPr/>
                    <a:lstStyle/>
                    <a:p>
                      <a:r>
                        <a:rPr lang="en-IN" dirty="0">
                          <a:latin typeface="Times New Roman" panose="02020603050405020304" pitchFamily="18" charset="0"/>
                          <a:cs typeface="Times New Roman" panose="02020603050405020304" pitchFamily="18" charset="0"/>
                        </a:rPr>
                        <a:t>Academic Performance Tracking </a:t>
                      </a:r>
                    </a:p>
                  </a:txBody>
                  <a:tcPr/>
                </a:tc>
                <a:tc>
                  <a:txBody>
                    <a:bodyPr/>
                    <a:lstStyle/>
                    <a:p>
                      <a:r>
                        <a:rPr lang="en-IN" dirty="0">
                          <a:latin typeface="Times New Roman" panose="02020603050405020304" pitchFamily="18" charset="0"/>
                          <a:cs typeface="Times New Roman" panose="02020603050405020304" pitchFamily="18" charset="0"/>
                        </a:rPr>
                        <a:t>Yes </a:t>
                      </a:r>
                    </a:p>
                  </a:txBody>
                  <a:tcPr/>
                </a:tc>
                <a:tc>
                  <a:txBody>
                    <a:bodyPr/>
                    <a:lstStyle/>
                    <a:p>
                      <a:r>
                        <a:rPr lang="en-IN"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603534120"/>
                  </a:ext>
                </a:extLst>
              </a:tr>
              <a:tr h="482882">
                <a:tc>
                  <a:txBody>
                    <a:bodyPr/>
                    <a:lstStyle/>
                    <a:p>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Signal Analysis</a:t>
                      </a:r>
                    </a:p>
                  </a:txBody>
                  <a:tcPr/>
                </a:tc>
                <a:tc>
                  <a:txBody>
                    <a:bodyPr/>
                    <a:lstStyle/>
                    <a:p>
                      <a:r>
                        <a:rPr lang="en-IN" dirty="0">
                          <a:latin typeface="Times New Roman" panose="02020603050405020304" pitchFamily="18" charset="0"/>
                          <a:cs typeface="Times New Roman" panose="02020603050405020304" pitchFamily="18" charset="0"/>
                        </a:rPr>
                        <a:t>No </a:t>
                      </a:r>
                    </a:p>
                  </a:txBody>
                  <a:tcPr/>
                </a:tc>
                <a:tc>
                  <a:txBody>
                    <a:bodyPr/>
                    <a:lstStyle/>
                    <a:p>
                      <a:r>
                        <a:rPr lang="en-IN"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4112411191"/>
                  </a:ext>
                </a:extLst>
              </a:tr>
              <a:tr h="482882">
                <a:tc>
                  <a:txBody>
                    <a:bodyPr/>
                    <a:lstStyle/>
                    <a:p>
                      <a:r>
                        <a:rPr lang="en-IN" dirty="0">
                          <a:latin typeface="Times New Roman" panose="02020603050405020304" pitchFamily="18" charset="0"/>
                          <a:cs typeface="Times New Roman" panose="02020603050405020304" pitchFamily="18" charset="0"/>
                        </a:rPr>
                        <a:t>WhatsApp-Based Interaction </a:t>
                      </a:r>
                    </a:p>
                  </a:txBody>
                  <a:tcPr/>
                </a:tc>
                <a:tc>
                  <a:txBody>
                    <a:bodyPr/>
                    <a:lstStyle/>
                    <a:p>
                      <a:r>
                        <a:rPr lang="en-IN" dirty="0">
                          <a:latin typeface="Times New Roman" panose="02020603050405020304" pitchFamily="18" charset="0"/>
                          <a:cs typeface="Times New Roman" panose="02020603050405020304" pitchFamily="18" charset="0"/>
                        </a:rPr>
                        <a:t>No </a:t>
                      </a:r>
                    </a:p>
                  </a:txBody>
                  <a:tcPr/>
                </a:tc>
                <a:tc>
                  <a:txBody>
                    <a:bodyPr/>
                    <a:lstStyle/>
                    <a:p>
                      <a:r>
                        <a:rPr lang="en-IN"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1723413609"/>
                  </a:ext>
                </a:extLst>
              </a:tr>
              <a:tr h="482882">
                <a:tc>
                  <a:txBody>
                    <a:bodyPr/>
                    <a:lstStyle/>
                    <a:p>
                      <a:r>
                        <a:rPr lang="en-IN" dirty="0">
                          <a:latin typeface="Times New Roman" panose="02020603050405020304" pitchFamily="18" charset="0"/>
                          <a:cs typeface="Times New Roman" panose="02020603050405020304" pitchFamily="18" charset="0"/>
                        </a:rPr>
                        <a:t>Real-Time Student Engagement</a:t>
                      </a:r>
                    </a:p>
                  </a:txBody>
                  <a:tcPr/>
                </a:tc>
                <a:tc>
                  <a:txBody>
                    <a:bodyPr/>
                    <a:lstStyle/>
                    <a:p>
                      <a:r>
                        <a:rPr lang="en-IN" dirty="0">
                          <a:latin typeface="Times New Roman" panose="02020603050405020304" pitchFamily="18" charset="0"/>
                          <a:cs typeface="Times New Roman" panose="02020603050405020304" pitchFamily="18" charset="0"/>
                        </a:rPr>
                        <a:t>No </a:t>
                      </a:r>
                    </a:p>
                  </a:txBody>
                  <a:tcPr/>
                </a:tc>
                <a:tc>
                  <a:txBody>
                    <a:bodyPr/>
                    <a:lstStyle/>
                    <a:p>
                      <a:r>
                        <a:rPr lang="en-IN"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1917557877"/>
                  </a:ext>
                </a:extLst>
              </a:tr>
              <a:tr h="482882">
                <a:tc>
                  <a:txBody>
                    <a:bodyPr/>
                    <a:lstStyle/>
                    <a:p>
                      <a:r>
                        <a:rPr lang="en-IN" dirty="0">
                          <a:latin typeface="Times New Roman" panose="02020603050405020304" pitchFamily="18" charset="0"/>
                          <a:cs typeface="Times New Roman" panose="02020603050405020304" pitchFamily="18" charset="0"/>
                        </a:rPr>
                        <a:t>Mentor Support Dashboard </a:t>
                      </a:r>
                    </a:p>
                  </a:txBody>
                  <a:tcPr/>
                </a:tc>
                <a:tc>
                  <a:txBody>
                    <a:bodyPr/>
                    <a:lstStyle/>
                    <a:p>
                      <a:r>
                        <a:rPr lang="en-IN" dirty="0">
                          <a:latin typeface="Times New Roman" panose="02020603050405020304" pitchFamily="18" charset="0"/>
                          <a:cs typeface="Times New Roman" panose="02020603050405020304" pitchFamily="18" charset="0"/>
                        </a:rPr>
                        <a:t>Limited</a:t>
                      </a:r>
                    </a:p>
                  </a:txBody>
                  <a:tcPr/>
                </a:tc>
                <a:tc>
                  <a:txBody>
                    <a:bodyPr/>
                    <a:lstStyle/>
                    <a:p>
                      <a:r>
                        <a:rPr lang="en-IN"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2964521195"/>
                  </a:ext>
                </a:extLst>
              </a:tr>
              <a:tr h="482882">
                <a:tc>
                  <a:txBody>
                    <a:bodyPr/>
                    <a:lstStyle/>
                    <a:p>
                      <a:r>
                        <a:rPr lang="en-IN" dirty="0">
                          <a:latin typeface="Times New Roman" panose="02020603050405020304" pitchFamily="18" charset="0"/>
                          <a:cs typeface="Times New Roman" panose="02020603050405020304" pitchFamily="18" charset="0"/>
                        </a:rPr>
                        <a:t>AI-Based Intervention Support </a:t>
                      </a:r>
                    </a:p>
                  </a:txBody>
                  <a:tcPr/>
                </a:tc>
                <a:tc>
                  <a:txBody>
                    <a:bodyPr/>
                    <a:lstStyle/>
                    <a:p>
                      <a:r>
                        <a:rPr lang="en-IN" dirty="0">
                          <a:latin typeface="Times New Roman" panose="02020603050405020304" pitchFamily="18" charset="0"/>
                          <a:cs typeface="Times New Roman" panose="02020603050405020304" pitchFamily="18" charset="0"/>
                        </a:rPr>
                        <a:t>No </a:t>
                      </a:r>
                    </a:p>
                  </a:txBody>
                  <a:tcPr/>
                </a:tc>
                <a:tc>
                  <a:txBody>
                    <a:bodyPr/>
                    <a:lstStyle/>
                    <a:p>
                      <a:r>
                        <a:rPr lang="en-IN"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911391196"/>
                  </a:ext>
                </a:extLst>
              </a:tr>
              <a:tr h="482882">
                <a:tc>
                  <a:txBody>
                    <a:bodyPr/>
                    <a:lstStyle/>
                    <a:p>
                      <a:r>
                        <a:rPr lang="en-IN" dirty="0">
                          <a:latin typeface="Times New Roman" panose="02020603050405020304" pitchFamily="18" charset="0"/>
                          <a:cs typeface="Times New Roman" panose="02020603050405020304" pitchFamily="18" charset="0"/>
                        </a:rPr>
                        <a:t>Dropout Prediction </a:t>
                      </a:r>
                    </a:p>
                  </a:txBody>
                  <a:tcPr/>
                </a:tc>
                <a:tc>
                  <a:txBody>
                    <a:bodyPr/>
                    <a:lstStyle/>
                    <a:p>
                      <a:r>
                        <a:rPr lang="en-IN" dirty="0">
                          <a:latin typeface="Times New Roman" panose="02020603050405020304" pitchFamily="18" charset="0"/>
                          <a:cs typeface="Times New Roman" panose="02020603050405020304" pitchFamily="18" charset="0"/>
                        </a:rPr>
                        <a:t>Yes </a:t>
                      </a:r>
                    </a:p>
                  </a:txBody>
                  <a:tcPr/>
                </a:tc>
                <a:tc>
                  <a:txBody>
                    <a:bodyPr/>
                    <a:lstStyle/>
                    <a:p>
                      <a:r>
                        <a:rPr lang="en-IN"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499586893"/>
                  </a:ext>
                </a:extLst>
              </a:tr>
            </a:tbl>
          </a:graphicData>
        </a:graphic>
      </p:graphicFrame>
    </p:spTree>
    <p:extLst>
      <p:ext uri="{BB962C8B-B14F-4D97-AF65-F5344CB8AC3E}">
        <p14:creationId xmlns:p14="http://schemas.microsoft.com/office/powerpoint/2010/main" val="2793966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85206-140C-E824-0C25-CC28D0D89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7939B-2387-BB6F-ECCE-6823C70BEF13}"/>
              </a:ext>
            </a:extLst>
          </p:cNvPr>
          <p:cNvSpPr>
            <a:spLocks noGrp="1"/>
          </p:cNvSpPr>
          <p:nvPr>
            <p:ph type="title"/>
          </p:nvPr>
        </p:nvSpPr>
        <p:spPr>
          <a:xfrm>
            <a:off x="140273" y="283130"/>
            <a:ext cx="9394723" cy="1143000"/>
          </a:xfrm>
        </p:spPr>
        <p:txBody>
          <a:bodyPr>
            <a:normAutofit/>
          </a:bodyPr>
          <a:lstStyle/>
          <a:p>
            <a:pPr algn="l"/>
            <a:r>
              <a:rPr lang="en" dirty="0">
                <a:latin typeface="Times New Roman" panose="02020603050405020304" pitchFamily="18" charset="0"/>
                <a:cs typeface="Times New Roman" panose="02020603050405020304" pitchFamily="18" charset="0"/>
              </a:rPr>
              <a:t>Result Analysis</a:t>
            </a:r>
            <a:endParaRPr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AC9F7FC-B32F-76BC-96E3-86DC069C8552}"/>
              </a:ext>
            </a:extLst>
          </p:cNvPr>
          <p:cNvSpPr txBox="1"/>
          <p:nvPr/>
        </p:nvSpPr>
        <p:spPr>
          <a:xfrm>
            <a:off x="546100" y="1426130"/>
            <a:ext cx="615188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Early identification of at-risk students </a:t>
            </a:r>
            <a:endParaRPr lang="en-IN"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6CDE1FC6-508D-669C-B236-2FAC5F8A6FA6}"/>
              </a:ext>
            </a:extLst>
          </p:cNvPr>
          <p:cNvPicPr>
            <a:picLocks noChangeAspect="1"/>
          </p:cNvPicPr>
          <p:nvPr/>
        </p:nvPicPr>
        <p:blipFill>
          <a:blip r:embed="rId2"/>
          <a:stretch>
            <a:fillRect/>
          </a:stretch>
        </p:blipFill>
        <p:spPr>
          <a:xfrm>
            <a:off x="2321453" y="1991361"/>
            <a:ext cx="6111347" cy="4583510"/>
          </a:xfrm>
          <a:prstGeom prst="rect">
            <a:avLst/>
          </a:prstGeom>
        </p:spPr>
      </p:pic>
    </p:spTree>
    <p:extLst>
      <p:ext uri="{BB962C8B-B14F-4D97-AF65-F5344CB8AC3E}">
        <p14:creationId xmlns:p14="http://schemas.microsoft.com/office/powerpoint/2010/main" val="348556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3049-B518-90BC-3644-74CD74229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6A46F-F044-82A8-3777-CF9F57B34111}"/>
              </a:ext>
            </a:extLst>
          </p:cNvPr>
          <p:cNvSpPr>
            <a:spLocks noGrp="1"/>
          </p:cNvSpPr>
          <p:nvPr>
            <p:ph type="title"/>
          </p:nvPr>
        </p:nvSpPr>
        <p:spPr>
          <a:xfrm>
            <a:off x="140273" y="283130"/>
            <a:ext cx="9394723" cy="1143000"/>
          </a:xfrm>
        </p:spPr>
        <p:txBody>
          <a:bodyPr>
            <a:normAutofit/>
          </a:bodyPr>
          <a:lstStyle/>
          <a:p>
            <a:pPr algn="l"/>
            <a:r>
              <a:rPr lang="en" dirty="0">
                <a:latin typeface="Times New Roman" panose="02020603050405020304" pitchFamily="18" charset="0"/>
                <a:cs typeface="Times New Roman" panose="02020603050405020304" pitchFamily="18" charset="0"/>
              </a:rPr>
              <a:t>Result Analysis</a:t>
            </a:r>
            <a:endParaRPr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E5A5EF-7D90-AEA1-601F-F8F208BFC607}"/>
              </a:ext>
            </a:extLst>
          </p:cNvPr>
          <p:cNvSpPr txBox="1"/>
          <p:nvPr/>
        </p:nvSpPr>
        <p:spPr>
          <a:xfrm>
            <a:off x="546100" y="1426130"/>
            <a:ext cx="6151880" cy="369332"/>
          </a:xfrm>
          <a:prstGeom prst="rect">
            <a:avLst/>
          </a:prstGeom>
          <a:noFill/>
        </p:spPr>
        <p:txBody>
          <a:bodyPr wrap="square">
            <a:spAutoFit/>
          </a:bodyPr>
          <a:lstStyle/>
          <a:p>
            <a:r>
              <a:rPr lang="en-US" dirty="0"/>
              <a:t>• Improved dropout prediction accuracy (≥ 80%) </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F512E3F-8B47-3413-362F-309EBED05FAE}"/>
              </a:ext>
            </a:extLst>
          </p:cNvPr>
          <p:cNvPicPr>
            <a:picLocks noChangeAspect="1"/>
          </p:cNvPicPr>
          <p:nvPr/>
        </p:nvPicPr>
        <p:blipFill>
          <a:blip r:embed="rId2"/>
          <a:stretch>
            <a:fillRect/>
          </a:stretch>
        </p:blipFill>
        <p:spPr>
          <a:xfrm>
            <a:off x="2469562" y="1795462"/>
            <a:ext cx="6836998" cy="4960938"/>
          </a:xfrm>
          <a:prstGeom prst="rect">
            <a:avLst/>
          </a:prstGeom>
        </p:spPr>
      </p:pic>
    </p:spTree>
    <p:extLst>
      <p:ext uri="{BB962C8B-B14F-4D97-AF65-F5344CB8AC3E}">
        <p14:creationId xmlns:p14="http://schemas.microsoft.com/office/powerpoint/2010/main" val="3019609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CC275-4DF1-2D6A-8416-58FAAAF54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9BDDB-59A6-5C13-D953-F14D8693FFAE}"/>
              </a:ext>
            </a:extLst>
          </p:cNvPr>
          <p:cNvSpPr>
            <a:spLocks noGrp="1"/>
          </p:cNvSpPr>
          <p:nvPr>
            <p:ph type="title"/>
          </p:nvPr>
        </p:nvSpPr>
        <p:spPr>
          <a:xfrm>
            <a:off x="140273" y="283130"/>
            <a:ext cx="9394723" cy="1143000"/>
          </a:xfrm>
        </p:spPr>
        <p:txBody>
          <a:bodyPr>
            <a:normAutofit/>
          </a:bodyPr>
          <a:lstStyle/>
          <a:p>
            <a:pPr algn="l"/>
            <a:r>
              <a:rPr lang="en" dirty="0">
                <a:latin typeface="Times New Roman" panose="02020603050405020304" pitchFamily="18" charset="0"/>
                <a:cs typeface="Times New Roman" panose="02020603050405020304" pitchFamily="18" charset="0"/>
              </a:rPr>
              <a:t>Result Analysis</a:t>
            </a:r>
            <a:endParaRPr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5F2601F-E8C7-2F48-BDE5-49478A58D8A4}"/>
              </a:ext>
            </a:extLst>
          </p:cNvPr>
          <p:cNvSpPr txBox="1"/>
          <p:nvPr/>
        </p:nvSpPr>
        <p:spPr>
          <a:xfrm>
            <a:off x="546100" y="1426130"/>
            <a:ext cx="7277100" cy="369332"/>
          </a:xfrm>
          <a:prstGeom prst="rect">
            <a:avLst/>
          </a:prstGeom>
          <a:noFill/>
        </p:spPr>
        <p:txBody>
          <a:bodyPr wrap="square">
            <a:spAutoFit/>
          </a:bodyPr>
          <a:lstStyle/>
          <a:p>
            <a:r>
              <a:rPr lang="en-US" dirty="0"/>
              <a:t>• Better student engagement through continuous chatbot interaction </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96039AB-6572-E940-AC85-EBB297D87A71}"/>
              </a:ext>
            </a:extLst>
          </p:cNvPr>
          <p:cNvPicPr>
            <a:picLocks noChangeAspect="1"/>
          </p:cNvPicPr>
          <p:nvPr/>
        </p:nvPicPr>
        <p:blipFill>
          <a:blip r:embed="rId2"/>
          <a:stretch>
            <a:fillRect/>
          </a:stretch>
        </p:blipFill>
        <p:spPr>
          <a:xfrm>
            <a:off x="893585" y="2096488"/>
            <a:ext cx="10841215" cy="4314471"/>
          </a:xfrm>
          <a:prstGeom prst="rect">
            <a:avLst/>
          </a:prstGeom>
        </p:spPr>
      </p:pic>
    </p:spTree>
    <p:extLst>
      <p:ext uri="{BB962C8B-B14F-4D97-AF65-F5344CB8AC3E}">
        <p14:creationId xmlns:p14="http://schemas.microsoft.com/office/powerpoint/2010/main" val="1160755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68D1E-F4C1-4EE7-324D-3E3843C3B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0D413-744A-E074-6540-315E306E11C5}"/>
              </a:ext>
            </a:extLst>
          </p:cNvPr>
          <p:cNvSpPr>
            <a:spLocks noGrp="1"/>
          </p:cNvSpPr>
          <p:nvPr>
            <p:ph type="title"/>
          </p:nvPr>
        </p:nvSpPr>
        <p:spPr>
          <a:xfrm>
            <a:off x="140273" y="283130"/>
            <a:ext cx="9394723" cy="1143000"/>
          </a:xfrm>
        </p:spPr>
        <p:txBody>
          <a:bodyPr>
            <a:normAutofit/>
          </a:bodyPr>
          <a:lstStyle/>
          <a:p>
            <a:pPr algn="l"/>
            <a:r>
              <a:rPr lang="en-IN" dirty="0">
                <a:latin typeface="Times New Roman" panose="02020603050405020304" pitchFamily="18" charset="0"/>
                <a:cs typeface="Times New Roman" panose="02020603050405020304" pitchFamily="18" charset="0"/>
              </a:rPr>
              <a:t>REFERENCES</a:t>
            </a:r>
            <a:r>
              <a:rPr lang="en-IN" dirty="0"/>
              <a:t> </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66C9D9-8540-2976-AE6A-3E04B15CE3B7}"/>
              </a:ext>
            </a:extLst>
          </p:cNvPr>
          <p:cNvSpPr>
            <a:spLocks noGrp="1"/>
          </p:cNvSpPr>
          <p:nvPr>
            <p:ph idx="1"/>
          </p:nvPr>
        </p:nvSpPr>
        <p:spPr>
          <a:xfrm>
            <a:off x="368708" y="1426130"/>
            <a:ext cx="12080241" cy="4700033"/>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[1] D. Andrade-Girón et al., “Predicting Student Dropout using ML and DL: A Systematic Review,” </a:t>
            </a:r>
            <a:r>
              <a:rPr lang="en-IN" sz="1800" i="1" dirty="0">
                <a:latin typeface="Times New Roman" panose="02020603050405020304" pitchFamily="18" charset="0"/>
                <a:cs typeface="Times New Roman" panose="02020603050405020304" pitchFamily="18" charset="0"/>
              </a:rPr>
              <a:t>EAI Transactions</a:t>
            </a:r>
            <a:r>
              <a:rPr lang="en-IN" sz="1800" dirty="0">
                <a:latin typeface="Times New Roman" panose="02020603050405020304" pitchFamily="18" charset="0"/>
                <a:cs typeface="Times New Roman" panose="02020603050405020304" pitchFamily="18" charset="0"/>
              </a:rPr>
              <a:t>, 2023.</a:t>
            </a:r>
          </a:p>
          <a:p>
            <a:pPr marL="0" indent="0">
              <a:buNone/>
            </a:pPr>
            <a:r>
              <a:rPr lang="en-IN" sz="1800" dirty="0">
                <a:latin typeface="Times New Roman" panose="02020603050405020304" pitchFamily="18" charset="0"/>
                <a:cs typeface="Times New Roman" panose="02020603050405020304" pitchFamily="18" charset="0"/>
              </a:rPr>
              <a:t>[2] F. Del Bonifro, M. Gabrielli, G. Lisanti, and S. P. Zingaro, “Student Dropout Prediction,” in </a:t>
            </a:r>
            <a:r>
              <a:rPr lang="en-IN" sz="1800" i="1" dirty="0">
                <a:latin typeface="Times New Roman" panose="02020603050405020304" pitchFamily="18" charset="0"/>
                <a:cs typeface="Times New Roman" panose="02020603050405020304" pitchFamily="18" charset="0"/>
              </a:rPr>
              <a:t>Artificial Intelligence in Education</a:t>
            </a:r>
            <a:r>
              <a:rPr lang="en-IN" sz="1800" dirty="0">
                <a:latin typeface="Times New Roman" panose="02020603050405020304" pitchFamily="18" charset="0"/>
                <a:cs typeface="Times New Roman" panose="02020603050405020304" pitchFamily="18" charset="0"/>
              </a:rPr>
              <a:t>, Springer, 2020, pp. 129–140.</a:t>
            </a:r>
          </a:p>
          <a:p>
            <a:pPr marL="0" indent="0">
              <a:buNone/>
            </a:pPr>
            <a:r>
              <a:rPr lang="en-IN" sz="1800" dirty="0">
                <a:latin typeface="Times New Roman" panose="02020603050405020304" pitchFamily="18" charset="0"/>
                <a:cs typeface="Times New Roman" panose="02020603050405020304" pitchFamily="18" charset="0"/>
              </a:rPr>
              <a:t>[3] C. J. Hutto and E. Gilbert, “VADER: A Parsimonious Rule-Based Model for Sentiment Analysis,” </a:t>
            </a:r>
            <a:r>
              <a:rPr lang="en-IN" sz="1800" i="1" dirty="0">
                <a:latin typeface="Times New Roman" panose="02020603050405020304" pitchFamily="18" charset="0"/>
                <a:cs typeface="Times New Roman" panose="02020603050405020304" pitchFamily="18" charset="0"/>
              </a:rPr>
              <a:t>ICWSM</a:t>
            </a:r>
            <a:r>
              <a:rPr lang="en-IN" sz="1800" dirty="0">
                <a:latin typeface="Times New Roman" panose="02020603050405020304" pitchFamily="18" charset="0"/>
                <a:cs typeface="Times New Roman" panose="02020603050405020304" pitchFamily="18" charset="0"/>
              </a:rPr>
              <a:t>, 2014.</a:t>
            </a:r>
          </a:p>
          <a:p>
            <a:pPr marL="0" indent="0">
              <a:buNone/>
            </a:pPr>
            <a:r>
              <a:rPr lang="en-IN" sz="1800" dirty="0">
                <a:latin typeface="Times New Roman" panose="02020603050405020304" pitchFamily="18" charset="0"/>
                <a:cs typeface="Times New Roman" panose="02020603050405020304" pitchFamily="18" charset="0"/>
              </a:rPr>
              <a:t>[4] </a:t>
            </a:r>
            <a:r>
              <a:rPr lang="en-IN" sz="1800" dirty="0" err="1">
                <a:latin typeface="Times New Roman" panose="02020603050405020304" pitchFamily="18" charset="0"/>
                <a:cs typeface="Times New Roman" panose="02020603050405020304" pitchFamily="18" charset="0"/>
              </a:rPr>
              <a:t>LangChain</a:t>
            </a:r>
            <a:r>
              <a:rPr lang="en-IN" sz="1800" dirty="0">
                <a:latin typeface="Times New Roman" panose="02020603050405020304" pitchFamily="18" charset="0"/>
                <a:cs typeface="Times New Roman" panose="02020603050405020304" pitchFamily="18" charset="0"/>
              </a:rPr>
              <a:t> Documentation, Available: </a:t>
            </a:r>
            <a:r>
              <a:rPr lang="en-IN" sz="1800" dirty="0" err="1">
                <a:latin typeface="Times New Roman" panose="02020603050405020304" pitchFamily="18" charset="0"/>
                <a:cs typeface="Times New Roman" panose="02020603050405020304" pitchFamily="18" charset="0"/>
                <a:hlinkClick r:id="rId2"/>
              </a:rPr>
              <a:t>LangChain</a:t>
            </a:r>
            <a:r>
              <a:rPr lang="en-IN" sz="1800" dirty="0">
                <a:latin typeface="Times New Roman" panose="02020603050405020304" pitchFamily="18" charset="0"/>
                <a:cs typeface="Times New Roman" panose="02020603050405020304" pitchFamily="18" charset="0"/>
                <a:hlinkClick r:id="rId2"/>
              </a:rPr>
              <a:t> Documentation</a:t>
            </a:r>
            <a:r>
              <a:rPr lang="en-IN" sz="1800" dirty="0">
                <a:latin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cs typeface="Times New Roman" panose="02020603050405020304" pitchFamily="18" charset="0"/>
              </a:rPr>
              <a:t>[5] Google Gemini API Documentation, Available: </a:t>
            </a:r>
            <a:r>
              <a:rPr lang="en-IN" sz="1800" dirty="0">
                <a:latin typeface="Times New Roman" panose="02020603050405020304" pitchFamily="18" charset="0"/>
                <a:cs typeface="Times New Roman" panose="02020603050405020304" pitchFamily="18" charset="0"/>
                <a:hlinkClick r:id="rId3"/>
              </a:rPr>
              <a:t>https://ai.google.dev/docs</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[6] Twilio WhatsApp API Documentation, Available: </a:t>
            </a:r>
            <a:r>
              <a:rPr lang="en-IN" sz="1800" dirty="0">
                <a:latin typeface="Times New Roman" panose="02020603050405020304" pitchFamily="18" charset="0"/>
                <a:cs typeface="Times New Roman" panose="02020603050405020304" pitchFamily="18" charset="0"/>
                <a:hlinkClick r:id="rId4"/>
              </a:rPr>
              <a:t>https://www.twilio.com/docs/whatsapp</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[7] F. Pedregosa et al., “Scikit-learn: Machine Learning in Python,” </a:t>
            </a:r>
            <a:r>
              <a:rPr lang="en-IN" sz="1800" i="1" dirty="0">
                <a:latin typeface="Times New Roman" panose="02020603050405020304" pitchFamily="18" charset="0"/>
                <a:cs typeface="Times New Roman" panose="02020603050405020304" pitchFamily="18" charset="0"/>
              </a:rPr>
              <a:t>Journal of Machine Learning Research (JMLR)</a:t>
            </a:r>
            <a:r>
              <a:rPr lang="en-IN" sz="1800" dirty="0">
                <a:latin typeface="Times New Roman" panose="02020603050405020304" pitchFamily="18" charset="0"/>
                <a:cs typeface="Times New Roman" panose="02020603050405020304" pitchFamily="18" charset="0"/>
              </a:rPr>
              <a:t>, vol. 12, 2011.</a:t>
            </a:r>
          </a:p>
          <a:p>
            <a:pPr marL="0" indent="0">
              <a:buNone/>
            </a:pPr>
            <a:r>
              <a:rPr lang="en-IN" sz="1800" dirty="0">
                <a:latin typeface="Times New Roman" panose="02020603050405020304" pitchFamily="18" charset="0"/>
                <a:cs typeface="Times New Roman" panose="02020603050405020304" pitchFamily="18" charset="0"/>
              </a:rPr>
              <a:t>[8] IEEE Standard 830-1998, </a:t>
            </a:r>
            <a:r>
              <a:rPr lang="en-IN" sz="1800" i="1" dirty="0">
                <a:latin typeface="Times New Roman" panose="02020603050405020304" pitchFamily="18" charset="0"/>
                <a:cs typeface="Times New Roman" panose="02020603050405020304" pitchFamily="18" charset="0"/>
              </a:rPr>
              <a:t>IEEE Recommended Practice for Software Requirements Specifications</a:t>
            </a:r>
            <a:r>
              <a:rPr lang="en-IN" sz="1800" dirty="0">
                <a:latin typeface="Times New Roman" panose="02020603050405020304" pitchFamily="18" charset="0"/>
                <a:cs typeface="Times New Roman" panose="02020603050405020304" pitchFamily="18" charset="0"/>
              </a:rPr>
              <a:t>, IEEE, 1998.</a:t>
            </a:r>
          </a:p>
        </p:txBody>
      </p:sp>
    </p:spTree>
    <p:extLst>
      <p:ext uri="{BB962C8B-B14F-4D97-AF65-F5344CB8AC3E}">
        <p14:creationId xmlns:p14="http://schemas.microsoft.com/office/powerpoint/2010/main" val="862090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1151</Words>
  <Application>Microsoft Office PowerPoint</Application>
  <PresentationFormat>Widescreen</PresentationFormat>
  <Paragraphs>173</Paragraphs>
  <Slides>27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PowerPoint Presentation</vt:lpstr>
      <vt:lpstr>Introduction to the Domain</vt:lpstr>
      <vt:lpstr>Problem Domain &amp; Motivation</vt:lpstr>
      <vt:lpstr>Literature Review</vt:lpstr>
      <vt:lpstr>Research Gaps</vt:lpstr>
      <vt:lpstr>PROBLEM STATEMENT &amp; OBJECTIVES</vt:lpstr>
      <vt:lpstr>Proposed Solution Overview</vt:lpstr>
      <vt:lpstr>System Architecture</vt:lpstr>
      <vt:lpstr>MODULE-BY-MODULE EXPLANATION</vt:lpstr>
      <vt:lpstr>PowerPoint Presentation</vt:lpstr>
      <vt:lpstr>PowerPoint Presentation</vt:lpstr>
      <vt:lpstr>PowerPoint Presentation</vt:lpstr>
      <vt:lpstr>PowerPoint Presentation</vt:lpstr>
      <vt:lpstr>PowerPoint Presentation</vt:lpstr>
      <vt:lpstr>PowerPoint Presentation</vt:lpstr>
      <vt:lpstr>Software Design (Block Diagram )</vt:lpstr>
      <vt:lpstr>Software Design (Block Diagram )</vt:lpstr>
      <vt:lpstr>LEVEL-0</vt:lpstr>
      <vt:lpstr>PowerPoint Presentation</vt:lpstr>
      <vt:lpstr>PowerPoint Presentation</vt:lpstr>
      <vt:lpstr>Performance &amp; Security</vt:lpstr>
      <vt:lpstr>TECHNOLOGY STACK </vt:lpstr>
      <vt:lpstr>Comparison with Existing Systems</vt:lpstr>
      <vt:lpstr>Result Analysis</vt:lpstr>
      <vt:lpstr>Result Analysis</vt:lpstr>
      <vt:lpstr>Result Analysis</vt:lpstr>
      <vt:lpstr>REFERENCES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ARYA PATIL</dc:creator>
  <cp:keywords/>
  <dc:description>generated using python-pptx</dc:description>
  <cp:lastModifiedBy>ARYA PATIL</cp:lastModifiedBy>
  <cp:revision>10</cp:revision>
  <dcterms:created xsi:type="dcterms:W3CDTF">2013-01-27T09:14:16Z</dcterms:created>
  <dcterms:modified xsi:type="dcterms:W3CDTF">2026-05-02T07:01:01Z</dcterms:modified>
  <cp:category/>
</cp:coreProperties>
</file>