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nstrument Sans Medium" panose="020B0604020202020204" charset="0"/>
      <p:regular r:id="rId11"/>
    </p:embeddedFont>
    <p:embeddedFont>
      <p:font typeface="Instrument Sans Semi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6582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6239-F836-C259-5FA4-410F801B0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EEEC6E-BB13-1DE2-65FC-03187E163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E46B6-7BB5-627B-7AA1-1317A267F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50B0-FB0A-4485-A89E-5A9600F4FCC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7BAEF-23C9-3A6E-5BAB-54A5A12F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71362-D915-03A6-7859-CBB781EBF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CB90-46AB-408D-B46E-6C77BEBF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264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607F3-9B32-CE77-B64D-6D7156645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EBC3C-B498-951F-828D-600EE5392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ECE6A-9DA2-8CCA-464D-7CDA2B7B5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50B0-FB0A-4485-A89E-5A9600F4FCC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C6A41-3079-04EA-E2E6-929109DED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10AE9-8D90-0B76-76D8-6AB00182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CB90-46AB-408D-B46E-6C77BEBF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811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1C8D-7FC6-4A39-EA44-08CE04D00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6255E-3D82-7C44-5F68-76D5FDBD0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8AE7A-1D46-C3BC-2A91-2ADB3CBA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50B0-FB0A-4485-A89E-5A9600F4FCC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11671-564F-4DB6-2C1D-6DBD204E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C70C2-76D5-207D-4C19-90781CCF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CB90-46AB-408D-B46E-6C77BEBF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6479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F5294-16B4-4039-5EA4-C2DABD300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31277-7E54-5E7E-E2E6-BAA96D795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9EB56-C16C-F0B3-87D6-E031460BD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00322-A213-0CE5-E25B-BF97037A4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50B0-FB0A-4485-A89E-5A9600F4FCC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9C10D-EFF0-E0F7-679D-987C46FB0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F5A97-814B-8362-6A37-1FBB8594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CB90-46AB-408D-B46E-6C77BEBF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075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AD417-45A2-CA88-EAC6-2D8AF143A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01E53-DCEC-161C-843D-3DFE447B6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350F3-0A76-8CF4-FF23-FE280998E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660056-03A7-646B-84D4-CA86233CA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E1FFF3-8FFA-8A95-77BA-85E991F05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CBF7B1-A024-93D0-BED0-6B0B3EC0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50B0-FB0A-4485-A89E-5A9600F4FCC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984608-B43B-7D9F-B68B-FCDBB619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700E38-AC68-8A7B-7E10-DCFC5E4AF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CB90-46AB-408D-B46E-6C77BEBF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276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C10AD-4066-AAE9-FCAC-7EF487B84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A0D0FB-19EE-87B1-2C6E-2808E3DDE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50B0-FB0A-4485-A89E-5A9600F4FCC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CBEEC-AC96-EB43-43F0-67B4DC1EC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FDFB1-4AB4-7A3B-33CA-E7F3DB13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CB90-46AB-408D-B46E-6C77BEBF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6616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A52F2-DDEA-FD68-E699-CA20395D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50B0-FB0A-4485-A89E-5A9600F4FCC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9082F-D381-0C41-D338-B8F27ECE5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D20A9-C4DF-D857-CEE9-116453A68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CB90-46AB-408D-B46E-6C77BEBF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352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357E-FA48-3484-6F69-08F2CECA9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04BC3-9D95-72F7-3681-6C9202D84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E519F-3046-B46B-F4F4-C595425D9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12295-DD30-91BE-56C4-8CA3D6AB8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50B0-FB0A-4485-A89E-5A9600F4FCC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A3F41-FAEE-473E-981A-1A894360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6A7AB-08FB-0884-4FD0-21676C395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CB90-46AB-408D-B46E-6C77BEBF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001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CB415-BC9C-D3E0-3154-5FFA70E5A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1B798-EFB3-CA42-14EE-2A947CF12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5FF5B-18EB-2757-CBF1-4FE7EB813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D9FA4-040D-B220-9EFE-3469F6F8F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50B0-FB0A-4485-A89E-5A9600F4FCC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95C79-74E0-D044-4B95-3B3E140E7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06951-959A-9CEE-80E7-49FD76594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CB90-46AB-408D-B46E-6C77BEBF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4096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1662-BA8F-F39E-7C9B-31CF029D2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7B78BA-9D43-089C-2CDC-0BF33C8B9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3DC1B-1BC0-6CD3-FD3B-C247ABD2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50B0-FB0A-4485-A89E-5A9600F4FCC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19371-240B-D532-8B55-228D4A30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CD90F-F23D-0048-ADFF-9E693A962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CB90-46AB-408D-B46E-6C77BEBF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07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CCDD7B-C930-C233-07F6-A9C463A324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4B3F2-361A-F32F-F110-1E090FDA5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B998B-3835-2071-63F5-6F43C71C3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150B0-FB0A-4485-A89E-5A9600F4FCC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C493A-19C0-7B11-4FCF-306C9E71F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DEFC0-8701-FD7D-0883-CF602CF66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CB90-46AB-408D-B46E-6C77BEBF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1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577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747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409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959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2831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2432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980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739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60EFD6-8D18-0190-2EB5-301883F32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E580F-06C7-E037-38EA-BB954DE82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3EC2C-BA94-F190-D531-3BDBA7B57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150B0-FB0A-4485-A89E-5A9600F4FCC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23843-A074-02F4-5F73-95A2639808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9E52C-4673-6B28-C623-D58F50F1B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4CB90-46AB-408D-B46E-6C77BEBF94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27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69525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Student Dropout Prediction System Using ML.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4407337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Combining LangChain, Google Gemini, machine learning, Flask, and React.js to detect at‑risk engineering students early and connect them with faculty mentors via an AI-driven WhatsApp chatbot and real‑time mentor portals. This project targets early intervention by analysing academic and behavioural signals to reduce first‑year dropout (≈14.8% reported).</a:t>
            </a:r>
            <a:endParaRPr lang="en-US" sz="15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7738DF-A50F-C608-70DC-A6741A41931D}"/>
              </a:ext>
            </a:extLst>
          </p:cNvPr>
          <p:cNvSpPr/>
          <p:nvPr/>
        </p:nvSpPr>
        <p:spPr>
          <a:xfrm>
            <a:off x="12467063" y="7605131"/>
            <a:ext cx="2163337" cy="624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737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Problem Statement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1835110"/>
            <a:ext cx="6565106" cy="4618792"/>
          </a:xfrm>
          <a:prstGeom prst="roundRect">
            <a:avLst>
              <a:gd name="adj" fmla="val 3094"/>
            </a:avLst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273" y="2058352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93413" y="205835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Late Detection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593413" y="2566868"/>
            <a:ext cx="542424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Students are often identified only after failure or a formal dropout request — intervention is then too late.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273" y="3598783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93413" y="35987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 Behavioural Data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593413" y="4107299"/>
            <a:ext cx="542424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Existing systems track marks and attendance but miss stress, anxiety and disengagement signals.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64874" y="2058352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64874" y="28024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Communication Gap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564874" y="331100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Students hesitate to approach faculty because of stigma, fear of judgement, or hierarchical barriers.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4874" y="4342924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64874" y="5087064"/>
            <a:ext cx="26556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 Mentor Connection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564874" y="5606731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There is no systematic way to identify and pair at‑risk students with the right mentors.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793790" y="667714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combined impact: 14.8% first‑year dropout, diminished student careers, reputational and financial loss for institutions, and fewer skilled graduates entering the workforce.</a:t>
            </a:r>
            <a:endParaRPr lang="en-US" sz="15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8840FA-D12E-90F6-D817-361EDD1405C0}"/>
              </a:ext>
            </a:extLst>
          </p:cNvPr>
          <p:cNvSpPr/>
          <p:nvPr/>
        </p:nvSpPr>
        <p:spPr>
          <a:xfrm>
            <a:off x="12467063" y="7616282"/>
            <a:ext cx="2163337" cy="624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018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Solution Overview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07099"/>
            <a:ext cx="891540" cy="5509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33337" y="2507099"/>
            <a:ext cx="193512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WhatsApp AI Chatbot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33337" y="3246477"/>
            <a:ext cx="1935123" cy="3492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LangChain orchestrates conversation memory and Google Gemini provides natural responses. Regular check‑ins collect behavioural signals with high adoption via WhatsApp.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467" y="2507099"/>
            <a:ext cx="891540" cy="5509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6014" y="2507099"/>
            <a:ext cx="193512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Behavioural Analysis Engine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256014" y="3246477"/>
            <a:ext cx="193512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VADER sentiment scoring, stress keyword detection and engagement metrics extract emotional indicators from every chat interaction.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144" y="2507099"/>
            <a:ext cx="891540" cy="5509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78691" y="2507099"/>
            <a:ext cx="193512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ML Prediction Engine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8578691" y="3246477"/>
            <a:ext cx="193512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Random Forest combines academic and behavioural features to output a 0–100% dropout probability and LOW/MEDIUM/HIGH classification.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1821" y="2507099"/>
            <a:ext cx="891659" cy="5510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901488" y="2507099"/>
            <a:ext cx="193512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Mentor Support &amp; Dashboards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1901488" y="3246477"/>
            <a:ext cx="193512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High‑risk students are flagged, mentors are notified via Socket.IO powered chat, and admins monitor risk through React.js dashboards.</a:t>
            </a:r>
            <a:endParaRPr lang="en-US" sz="15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61F8D2-505F-248D-DB94-64B8AF84E79B}"/>
              </a:ext>
            </a:extLst>
          </p:cNvPr>
          <p:cNvSpPr/>
          <p:nvPr/>
        </p:nvSpPr>
        <p:spPr>
          <a:xfrm>
            <a:off x="12467063" y="7616282"/>
            <a:ext cx="2163337" cy="624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5256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Objectives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1086" y="3434215"/>
            <a:ext cx="198358" cy="19835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783806"/>
            <a:ext cx="4215289" cy="228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06616" y="3877984"/>
            <a:ext cx="390810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WhatsApp Chatbot Development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5361086" y="4504792"/>
            <a:ext cx="42152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 Build a </a:t>
            </a:r>
            <a:r>
              <a:rPr lang="en-US" sz="15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LangChain</a:t>
            </a: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+ Google Gemini chatbot with conversation memory, periodic wellbeing checks and extraction of </a:t>
            </a:r>
            <a:r>
              <a:rPr lang="en-US" sz="15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behavioural</a:t>
            </a: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features (sentiment, stress keywords, engagement).</a:t>
            </a:r>
            <a:endParaRPr lang="en-US" sz="15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437" y="3783806"/>
            <a:ext cx="4215408" cy="2286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A7FC8AF-471E-A516-5A9B-8B6AB4463301}"/>
              </a:ext>
            </a:extLst>
          </p:cNvPr>
          <p:cNvGrpSpPr/>
          <p:nvPr/>
        </p:nvGrpSpPr>
        <p:grpSpPr>
          <a:xfrm>
            <a:off x="9779450" y="3429743"/>
            <a:ext cx="4215408" cy="2345207"/>
            <a:chOff x="9779450" y="3429743"/>
            <a:chExt cx="4215408" cy="2345207"/>
          </a:xfrm>
        </p:grpSpPr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829204" y="3429743"/>
              <a:ext cx="198358" cy="198358"/>
            </a:xfrm>
            <a:prstGeom prst="rect">
              <a:avLst/>
            </a:prstGeom>
          </p:spPr>
        </p:pic>
        <p:sp>
          <p:nvSpPr>
            <p:cNvPr id="9" name="Text 3"/>
            <p:cNvSpPr/>
            <p:nvPr/>
          </p:nvSpPr>
          <p:spPr>
            <a:xfrm>
              <a:off x="9779450" y="3877984"/>
              <a:ext cx="3769281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950" dirty="0">
                  <a:solidFill>
                    <a:srgbClr val="5B5F71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Web Platform (Admin &amp; Mentor)</a:t>
              </a:r>
              <a:endParaRPr lang="en-US" sz="1950" dirty="0"/>
            </a:p>
          </p:txBody>
        </p:sp>
        <p:sp>
          <p:nvSpPr>
            <p:cNvPr id="10" name="Text 4"/>
            <p:cNvSpPr/>
            <p:nvPr/>
          </p:nvSpPr>
          <p:spPr>
            <a:xfrm>
              <a:off x="9779450" y="4504791"/>
              <a:ext cx="4215408" cy="12701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550" dirty="0">
                  <a:solidFill>
                    <a:srgbClr val="5B5F71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To Implement real‑time mentor‑student chat (Socket.IO), an Admin Panel and Mentor Portal in React.js for monitoring, assignment and follow‑ups.</a:t>
              </a:r>
              <a:endParaRPr lang="en-US" sz="1550" dirty="0"/>
            </a:p>
          </p:txBody>
        </p:sp>
      </p:grp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89" y="3535072"/>
            <a:ext cx="198358" cy="198358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1203" y="3783806"/>
            <a:ext cx="4215289" cy="2286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93789" y="3959721"/>
            <a:ext cx="27976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Prediction Performance</a:t>
            </a:r>
            <a:endParaRPr lang="en-US" sz="1950" dirty="0"/>
          </a:p>
        </p:txBody>
      </p:sp>
      <p:sp>
        <p:nvSpPr>
          <p:cNvPr id="14" name="Text 6"/>
          <p:cNvSpPr/>
          <p:nvPr/>
        </p:nvSpPr>
        <p:spPr>
          <a:xfrm>
            <a:off x="793790" y="4504793"/>
            <a:ext cx="42152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 Achieve ≥80% accuracy using Random Forest by combining conventional academic features and novel behavioural signals for reliable early detection.</a:t>
            </a:r>
            <a:endParaRPr lang="en-US" sz="15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E3294B-43AC-37F1-5A62-BFC3BD3C4865}"/>
              </a:ext>
            </a:extLst>
          </p:cNvPr>
          <p:cNvSpPr/>
          <p:nvPr/>
        </p:nvSpPr>
        <p:spPr>
          <a:xfrm>
            <a:off x="12467063" y="7605131"/>
            <a:ext cx="2163337" cy="624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F811CB9-C63A-8F4A-7CAD-CD8B237E4701}"/>
              </a:ext>
            </a:extLst>
          </p:cNvPr>
          <p:cNvSpPr/>
          <p:nvPr/>
        </p:nvSpPr>
        <p:spPr>
          <a:xfrm>
            <a:off x="12467063" y="7605131"/>
            <a:ext cx="2163337" cy="624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05E2AEE-AC9B-96F4-2051-A282368CB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094" y="0"/>
            <a:ext cx="12404212" cy="82296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F59E6BB-1A8A-6746-FECE-B9A65AFF5E6C}"/>
              </a:ext>
            </a:extLst>
          </p:cNvPr>
          <p:cNvSpPr/>
          <p:nvPr/>
        </p:nvSpPr>
        <p:spPr>
          <a:xfrm>
            <a:off x="4419600" y="7879082"/>
            <a:ext cx="8244840" cy="2694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711" y="641390"/>
            <a:ext cx="4580096" cy="572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Technology Stack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711" y="1657588"/>
            <a:ext cx="457914" cy="45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2711" y="2326838"/>
            <a:ext cx="229004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Backend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2711" y="2782014"/>
            <a:ext cx="6359009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Python 3.10+, Flask, Flask‑SocketIO; REST APIs and webhook handlers for Twilio.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711" y="3683794"/>
            <a:ext cx="457914" cy="4579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2711" y="4353044"/>
            <a:ext cx="229004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AI &amp; NLP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32711" y="4808220"/>
            <a:ext cx="6359009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LangChain orchestration, Google Gemini for LLM responses, VADER for sentiment, NLTK for preprocessing.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711" y="5709999"/>
            <a:ext cx="457914" cy="4579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2711" y="6379250"/>
            <a:ext cx="229004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32711" y="6834426"/>
            <a:ext cx="6359009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Scikit‑learn Random Forest, Pandas, NumPy for feature engineering and evaluation.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6300" y="1657588"/>
            <a:ext cx="457914" cy="4579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6300" y="2326838"/>
            <a:ext cx="229004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7546300" y="2782014"/>
            <a:ext cx="6359009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React.js + Material‑UI, Chart.js for visualisations, Socket.IO client for real‑time chat.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46300" y="3683794"/>
            <a:ext cx="457914" cy="45791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546300" y="4353044"/>
            <a:ext cx="229004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Databases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7546300" y="4808220"/>
            <a:ext cx="6359009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MySQL for structured student &amp; prediction records; MongoDB for chat logs and behavioural data.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6300" y="5709999"/>
            <a:ext cx="457914" cy="45791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546300" y="6379250"/>
            <a:ext cx="2290048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Communication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7546300" y="6834426"/>
            <a:ext cx="6359009" cy="563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Twilio WhatsApp Sandbox (FREE) for message routing and webhook integration.</a:t>
            </a:r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F5505A-C400-D0B5-6D0A-2460C09EBB1A}"/>
              </a:ext>
            </a:extLst>
          </p:cNvPr>
          <p:cNvSpPr/>
          <p:nvPr/>
        </p:nvSpPr>
        <p:spPr>
          <a:xfrm>
            <a:off x="12467063" y="7605131"/>
            <a:ext cx="2163337" cy="624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227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Impacts &amp; Benefits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930009"/>
            <a:ext cx="3111937" cy="2428875"/>
          </a:xfrm>
          <a:prstGeom prst="roundRect">
            <a:avLst>
              <a:gd name="adj" fmla="val 343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31359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Educational Impact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9768" y="3565208"/>
            <a:ext cx="269998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Early identification weeks before failure, data‑driven interventions and measurable reduction in dropout rates.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104084" y="2930009"/>
            <a:ext cx="3111937" cy="2428875"/>
          </a:xfrm>
          <a:prstGeom prst="roundRect">
            <a:avLst>
              <a:gd name="adj" fmla="val 343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10063" y="31359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Student Benefits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310063" y="3565208"/>
            <a:ext cx="269998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24/7 anonymous support on a familiar platform, quicker access to mentors and proactive wellbeing monitoring.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2930009"/>
            <a:ext cx="3111937" cy="2428875"/>
          </a:xfrm>
          <a:prstGeom prst="roundRect">
            <a:avLst>
              <a:gd name="adj" fmla="val 343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357" y="31359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Institutional Gains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20357" y="3565208"/>
            <a:ext cx="269998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monitoring at scale, centralised analytics, improved retention, and better allocation of support resources.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724674" y="2930009"/>
            <a:ext cx="3111937" cy="2428875"/>
          </a:xfrm>
          <a:prstGeom prst="roundRect">
            <a:avLst>
              <a:gd name="adj" fmla="val 343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30652" y="31359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Mentor Advantages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930652" y="3565208"/>
            <a:ext cx="269998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Contextual student profiles, chat history, and follow‑up tools that focus mentor time where it matters most.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558212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Cost: Entire pipeline leverages free tiers and open‑source tools (Gemini API, Twilio Sandbox, scikit‑learn), enabling low‑cost adoption and strong ROI through higher retention.</a:t>
            </a:r>
            <a:endParaRPr lang="en-US" sz="15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6E5730-A7EC-5C5C-E1D3-684BF1A4F87E}"/>
              </a:ext>
            </a:extLst>
          </p:cNvPr>
          <p:cNvSpPr/>
          <p:nvPr/>
        </p:nvSpPr>
        <p:spPr>
          <a:xfrm>
            <a:off x="12467063" y="7605131"/>
            <a:ext cx="2163337" cy="624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5454"/>
            <a:ext cx="63292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 &amp; Future Scope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93188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 built an integrated, free‑tool driven Student Dropout Prediction System combining an AI WhatsApp chatbot, behavioural analytics, Random Forest prediction, and real‑time mentor workflows. The platform delivers &gt;80% prediction accuracy in trials and creates measurable routes from detection to intervention.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869049"/>
            <a:ext cx="6422231" cy="3689628"/>
          </a:xfrm>
          <a:prstGeom prst="roundRect">
            <a:avLst>
              <a:gd name="adj" fmla="val 225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008" y="3090267"/>
            <a:ext cx="30046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Problems Are Solved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15008" y="3519488"/>
            <a:ext cx="5979795" cy="2817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Late detection → continuous monitoring + ML alerts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behavioural data → VADER sentiment &amp; keyword extraction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Communication gap → anonymous WhatsApp interactions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mentor connection → automated mentor assignment + Socket.IO chat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monitoring → React dashboards with real‑time analytics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2869049"/>
            <a:ext cx="6422231" cy="3689628"/>
          </a:xfrm>
          <a:prstGeom prst="roundRect">
            <a:avLst>
              <a:gd name="adj" fmla="val 225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597" y="30902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Work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35597" y="3519488"/>
            <a:ext cx="5979795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Multi‑language support and voice message analysis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ERP integrations and mobile mentor app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Advanced models (LSTM, BERT) for improved accuracy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6881067"/>
            <a:ext cx="13042821" cy="32385"/>
          </a:xfrm>
          <a:prstGeom prst="rect">
            <a:avLst/>
          </a:prstGeom>
          <a:solidFill>
            <a:srgbClr val="5B5F71">
              <a:alpha val="50000"/>
            </a:srgbClr>
          </a:solidFill>
          <a:ln/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533DA3-03E7-B84B-B125-F98C867B62FF}"/>
              </a:ext>
            </a:extLst>
          </p:cNvPr>
          <p:cNvSpPr/>
          <p:nvPr/>
        </p:nvSpPr>
        <p:spPr>
          <a:xfrm>
            <a:off x="12467063" y="7605131"/>
            <a:ext cx="2163337" cy="624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756</Words>
  <Application>Microsoft Office PowerPoint</Application>
  <PresentationFormat>Custom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 Light</vt:lpstr>
      <vt:lpstr>Instrument Sans Medium</vt:lpstr>
      <vt:lpstr>Calibri</vt:lpstr>
      <vt:lpstr>Instrument Sans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Atharv Niprul</cp:lastModifiedBy>
  <cp:revision>9</cp:revision>
  <dcterms:created xsi:type="dcterms:W3CDTF">2026-03-04T08:00:18Z</dcterms:created>
  <dcterms:modified xsi:type="dcterms:W3CDTF">2026-05-02T05:21:06Z</dcterms:modified>
</cp:coreProperties>
</file>