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1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4630400" cy="8229600"/>
  <p:notesSz cx="8229600" cy="14630400"/>
  <p:embeddedFontLst>
    <p:embeddedFont>
      <p:font typeface="Instrument Sans Medium" panose="020B0604020202020204" charset="0"/>
      <p:regular r:id="rId11"/>
    </p:embeddedFont>
    <p:embeddedFont>
      <p:font typeface="Instrument Sans Semi Bold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1522" y="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6582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66239-F836-C259-5FA4-410F801B0B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EEEC6E-BB13-1DE2-65FC-03187E163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E46B6-7BB5-627B-7AA1-1317A267F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7BAEF-23C9-3A6E-5BAB-54A5A12F9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71362-D915-03A6-7859-CBB781EBF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32644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607F3-9B32-CE77-B64D-6D7156645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EBC3C-B498-951F-828D-600EE5392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ECE6A-9DA2-8CCA-464D-7CDA2B7B5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C6A41-3079-04EA-E2E6-929109DED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10AE9-8D90-0B76-76D8-6AB00182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5811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D1C8D-7FC6-4A39-EA44-08CE04D00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6255E-3D82-7C44-5F68-76D5FDBD0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8AE7A-1D46-C3BC-2A91-2ADB3CBA3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11671-564F-4DB6-2C1D-6DBD204E9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C70C2-76D5-207D-4C19-90781CCFD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6479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F5294-16B4-4039-5EA4-C2DABD300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31277-7E54-5E7E-E2E6-BAA96D7954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E9EB56-C16C-F0B3-87D6-E031460BDC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600322-A213-0CE5-E25B-BF97037A4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A9C10D-EFF0-E0F7-679D-987C46FB0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9F5A97-814B-8362-6A37-1FBB85945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407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AD417-45A2-CA88-EAC6-2D8AF143A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E01E53-DCEC-161C-843D-3DFE447B6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3350F3-0A76-8CF4-FF23-FE280998E8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660056-03A7-646B-84D4-CA86233CA2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E1FFF3-8FFA-8A95-77BA-85E991F059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CBF7B1-A024-93D0-BED0-6B0B3EC0F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984608-B43B-7D9F-B68B-FCDBB6195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700E38-AC68-8A7B-7E10-DCFC5E4AF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22760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C10AD-4066-AAE9-FCAC-7EF487B84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A0D0FB-19EE-87B1-2C6E-2808E3DDE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CBEEC-AC96-EB43-43F0-67B4DC1EC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CFDFB1-4AB4-7A3B-33CA-E7F3DB13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66163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CA52F2-DDEA-FD68-E699-CA20395D8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A9082F-D381-0C41-D338-B8F27ECE5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D20A9-C4DF-D857-CEE9-116453A68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93523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8357E-FA48-3484-6F69-08F2CECA9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04BC3-9D95-72F7-3681-6C9202D84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3E519F-3046-B46B-F4F4-C595425D93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A12295-DD30-91BE-56C4-8CA3D6AB8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EA3F41-FAEE-473E-981A-1A894360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36A7AB-08FB-0884-4FD0-21676C39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0014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CB415-BC9C-D3E0-3154-5FFA70E5A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1B798-EFB3-CA42-14EE-2A947CF12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B5FF5B-18EB-2757-CBF1-4FE7EB81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D9FA4-040D-B220-9EFE-3469F6F8F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B95C79-74E0-D044-4B95-3B3E140E7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06951-959A-9CEE-80E7-49FD76594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84096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31662-BA8F-F39E-7C9B-31CF029D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7B78BA-9D43-089C-2CDC-0BF33C8B9D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3DC1B-1BC0-6CD3-FD3B-C247ABD28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19371-240B-D532-8B55-228D4A303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BCD90F-F23D-0048-ADFF-9E693A962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307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CCDD7B-C930-C233-07F6-A9C463A324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24B3F2-361A-F32F-F110-1E090FDA5F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B998B-3835-2071-63F5-6F43C71C3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1C493A-19C0-7B11-4FCF-306C9E71F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DEFC0-8701-FD7D-0883-CF602CF66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412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45774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7471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04096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5959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72831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42432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99807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3739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60EFD6-8D18-0190-2EB5-301883F32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E580F-06C7-E037-38EA-BB954DE82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3EC2C-BA94-F190-D531-3BDBA7B578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C150B0-FB0A-4485-A89E-5A9600F4FCC2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23843-A074-02F4-5F73-95A2639808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69E52C-4673-6B28-C623-D58F50F1B3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927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  <p:sldLayoutId id="2147483736" r:id="rId18"/>
    <p:sldLayoutId id="2147483737" r:id="rId19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svg"/><Relationship Id="rId9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4.sv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Relationship Id="rId14" Type="http://schemas.openxmlformats.org/officeDocument/2006/relationships/image" Target="../media/image32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869525"/>
            <a:ext cx="130428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Student Dropout Prediction System Using ML.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4407337"/>
            <a:ext cx="130428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Combining LangChain, Google Gemini, machine learning, Flask, and React.js to detect at‑risk engineering students early and connect them with faculty mentors via an AI-driven WhatsApp chatbot and real‑time mentor portals. This project targets early intervention by analysing academic and behavioural signals to reduce first‑year dropout (≈14.8% reported).</a:t>
            </a:r>
            <a:endParaRPr lang="en-US" sz="155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7738DF-A50F-C608-70DC-A6741A41931D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17377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Problem Statement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650915" y="1835110"/>
            <a:ext cx="6565106" cy="4618792"/>
          </a:xfrm>
          <a:prstGeom prst="roundRect">
            <a:avLst>
              <a:gd name="adj" fmla="val 3094"/>
            </a:avLst>
          </a:prstGeom>
          <a:solidFill>
            <a:srgbClr val="000000">
              <a:alpha val="95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73" y="2058352"/>
            <a:ext cx="496133" cy="4961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93413" y="205835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Late Detection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1593413" y="2566868"/>
            <a:ext cx="542424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Students are often identified only after failure or a formal dropout request — intervention is then too late.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9273" y="3598783"/>
            <a:ext cx="496133" cy="49613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93413" y="359878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No Behavioural Data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1593413" y="4107299"/>
            <a:ext cx="542424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Existing systems track marks and attendance but miss stress, anxiety and disengagement signals.</a:t>
            </a:r>
            <a:endParaRPr lang="en-US" sz="15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4874" y="2058352"/>
            <a:ext cx="496133" cy="49613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564874" y="280249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Communication Gap</a:t>
            </a:r>
            <a:endParaRPr lang="en-US" sz="1950" dirty="0"/>
          </a:p>
        </p:txBody>
      </p:sp>
      <p:sp>
        <p:nvSpPr>
          <p:cNvPr id="12" name="Text 7"/>
          <p:cNvSpPr/>
          <p:nvPr/>
        </p:nvSpPr>
        <p:spPr>
          <a:xfrm>
            <a:off x="7564874" y="3311009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Students hesitate to approach faculty because of stigma, fear of judgement, or hierarchical barriers.</a:t>
            </a:r>
            <a:endParaRPr lang="en-US" sz="15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4874" y="4342924"/>
            <a:ext cx="496133" cy="49613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564874" y="5087064"/>
            <a:ext cx="265568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No Mentor Connection</a:t>
            </a:r>
            <a:endParaRPr lang="en-US" sz="1950" dirty="0"/>
          </a:p>
        </p:txBody>
      </p:sp>
      <p:sp>
        <p:nvSpPr>
          <p:cNvPr id="15" name="Text 9"/>
          <p:cNvSpPr/>
          <p:nvPr/>
        </p:nvSpPr>
        <p:spPr>
          <a:xfrm>
            <a:off x="7564874" y="5606731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There is no systematic way to identify and pair at‑risk students with the right mentors.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793790" y="6677144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combined impact: 14.8% first‑year dropout, diminished student careers, reputational and financial loss for institutions, and fewer skilled graduates entering the workforce.</a:t>
            </a:r>
            <a:endParaRPr lang="en-US" sz="155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8840FA-D12E-90F6-D817-361EDD1405C0}"/>
              </a:ext>
            </a:extLst>
          </p:cNvPr>
          <p:cNvSpPr/>
          <p:nvPr/>
        </p:nvSpPr>
        <p:spPr>
          <a:xfrm>
            <a:off x="12467063" y="7616282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90186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Solution Overview</a:t>
            </a:r>
            <a:endParaRPr lang="en-US" sz="3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507099"/>
            <a:ext cx="891540" cy="55090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33337" y="2507099"/>
            <a:ext cx="1935123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WhatsApp AI Chatbot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1933337" y="3246477"/>
            <a:ext cx="1935123" cy="3492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LangChain orchestrates conversation memory and Google Gemini provides natural responses. Regular check‑ins collect behavioural signals with high adoption via WhatsApp.</a:t>
            </a:r>
            <a:endParaRPr lang="en-US" sz="15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6467" y="2507099"/>
            <a:ext cx="891540" cy="55090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56014" y="2507099"/>
            <a:ext cx="1935123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Behavioural Analysis Engine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5256014" y="3246477"/>
            <a:ext cx="1935123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VADER sentiment scoring, stress keyword detection and engagement metrics extract emotional indicators from every chat interaction.</a:t>
            </a:r>
            <a:endParaRPr lang="en-US" sz="15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9144" y="2507099"/>
            <a:ext cx="891540" cy="5509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78691" y="2507099"/>
            <a:ext cx="1935123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ML Prediction Engine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8578691" y="3246477"/>
            <a:ext cx="1935123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Random Forest combines academic and behavioural features to output a 0–100% dropout probability and LOW/MEDIUM/HIGH classification.</a:t>
            </a:r>
            <a:endParaRPr lang="en-US" sz="15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1821" y="2507099"/>
            <a:ext cx="891659" cy="55102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901488" y="2507099"/>
            <a:ext cx="1935123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Mentor Support &amp; Dashboards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11901488" y="3246477"/>
            <a:ext cx="1935123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High‑risk students are flagged, mentors are notified via Socket.IO powered chat, and admins monitor risk through React.js dashboards.</a:t>
            </a:r>
            <a:endParaRPr lang="en-US" sz="15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61F8D2-505F-248D-DB94-64B8AF84E79B}"/>
              </a:ext>
            </a:extLst>
          </p:cNvPr>
          <p:cNvSpPr/>
          <p:nvPr/>
        </p:nvSpPr>
        <p:spPr>
          <a:xfrm>
            <a:off x="12467063" y="7616282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45256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Objectives</a:t>
            </a:r>
            <a:endParaRPr lang="en-US" sz="3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3514130"/>
            <a:ext cx="198358" cy="19835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3783806"/>
            <a:ext cx="4215289" cy="228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3928705"/>
            <a:ext cx="3908107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WhatsApp Chatbot Development</a:t>
            </a:r>
            <a:endParaRPr lang="en-US" sz="1950" dirty="0"/>
          </a:p>
        </p:txBody>
      </p:sp>
      <p:sp>
        <p:nvSpPr>
          <p:cNvPr id="6" name="Text 2"/>
          <p:cNvSpPr/>
          <p:nvPr/>
        </p:nvSpPr>
        <p:spPr>
          <a:xfrm>
            <a:off x="793790" y="4357926"/>
            <a:ext cx="4215289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Build a LangChain + Google Gemini chatbot with conversation memory, periodic wellbeing checks and extraction of behavioural features (sentiment, stress keywords, engagement).</a:t>
            </a:r>
            <a:endParaRPr lang="en-US" sz="15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07437" y="3514130"/>
            <a:ext cx="198358" cy="198358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7437" y="3783806"/>
            <a:ext cx="4215408" cy="2286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5207437" y="3928705"/>
            <a:ext cx="376928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Web Platform (Admin &amp; Mentor)</a:t>
            </a:r>
            <a:endParaRPr lang="en-US" sz="1950" dirty="0"/>
          </a:p>
        </p:txBody>
      </p:sp>
      <p:sp>
        <p:nvSpPr>
          <p:cNvPr id="10" name="Text 4"/>
          <p:cNvSpPr/>
          <p:nvPr/>
        </p:nvSpPr>
        <p:spPr>
          <a:xfrm>
            <a:off x="5207437" y="4357926"/>
            <a:ext cx="4215408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Implement real‑time mentor‑student chat (Socket.IO), an Admin Panel and Mentor Portal in React.js for monitoring, assignment and follow‑ups.</a:t>
            </a:r>
            <a:endParaRPr lang="en-US" sz="15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21203" y="3514130"/>
            <a:ext cx="198358" cy="198358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1203" y="3783806"/>
            <a:ext cx="4215289" cy="2286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9621203" y="3928705"/>
            <a:ext cx="279761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Prediction Performance</a:t>
            </a:r>
            <a:endParaRPr lang="en-US" sz="1950" dirty="0"/>
          </a:p>
        </p:txBody>
      </p:sp>
      <p:sp>
        <p:nvSpPr>
          <p:cNvPr id="14" name="Text 6"/>
          <p:cNvSpPr/>
          <p:nvPr/>
        </p:nvSpPr>
        <p:spPr>
          <a:xfrm>
            <a:off x="9621203" y="4357926"/>
            <a:ext cx="4215289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Achieve ≥80% accuracy using Random Forest by combining conventional academic features and novel behavioural signals for reliable early detection.</a:t>
            </a:r>
            <a:endParaRPr lang="en-US" sz="15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E3294B-43AC-37F1-5A62-BFC3BD3C4865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F811CB9-C63A-8F4A-7CAD-CD8B237E4701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5E2AEE-AC9B-96F4-2051-A282368CB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094" y="0"/>
            <a:ext cx="12404212" cy="82296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F59E6BB-1A8A-6746-FECE-B9A65AFF5E6C}"/>
              </a:ext>
            </a:extLst>
          </p:cNvPr>
          <p:cNvSpPr/>
          <p:nvPr/>
        </p:nvSpPr>
        <p:spPr>
          <a:xfrm>
            <a:off x="4419600" y="7879082"/>
            <a:ext cx="8244840" cy="2694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2711" y="641390"/>
            <a:ext cx="4580096" cy="572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Technology Stack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2711" y="1657588"/>
            <a:ext cx="457914" cy="4579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2711" y="2326838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Backend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32711" y="2782014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Python 3.10+, Flask, Flask‑SocketIO; REST APIs and webhook handlers for Twilio.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2711" y="3683794"/>
            <a:ext cx="457914" cy="4579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2711" y="4353044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AI &amp; NLP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732711" y="4808220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LangChain orchestration, Google Gemini for LLM responses, VADER for sentiment, NLTK for preprocessing.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2711" y="5709999"/>
            <a:ext cx="457914" cy="45791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2711" y="6379250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Machine Learning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732711" y="6834426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Scikit‑learn Random Forest, Pandas, NumPy for feature engineering and evaluation.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46300" y="1657588"/>
            <a:ext cx="457914" cy="45791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546300" y="2326838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Frontend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7546300" y="2782014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React.js + Material‑UI, Chart.js for visualisations, Socket.IO client for real‑time chat.</a:t>
            </a:r>
            <a:endParaRPr lang="en-US" sz="14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6300" y="3683794"/>
            <a:ext cx="457914" cy="45791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546300" y="4353044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Databases</a:t>
            </a:r>
            <a:endParaRPr lang="en-US" sz="1800" dirty="0"/>
          </a:p>
        </p:txBody>
      </p:sp>
      <p:sp>
        <p:nvSpPr>
          <p:cNvPr id="17" name="Text 10"/>
          <p:cNvSpPr/>
          <p:nvPr/>
        </p:nvSpPr>
        <p:spPr>
          <a:xfrm>
            <a:off x="7546300" y="4808220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MySQL for structured student &amp; prediction records; MongoDB for chat logs and behavioural data.</a:t>
            </a:r>
            <a:endParaRPr lang="en-US" sz="14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46300" y="5709999"/>
            <a:ext cx="457914" cy="45791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546300" y="6379250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Communication</a:t>
            </a:r>
            <a:endParaRPr lang="en-US" sz="1800" dirty="0"/>
          </a:p>
        </p:txBody>
      </p:sp>
      <p:sp>
        <p:nvSpPr>
          <p:cNvPr id="20" name="Text 12"/>
          <p:cNvSpPr/>
          <p:nvPr/>
        </p:nvSpPr>
        <p:spPr>
          <a:xfrm>
            <a:off x="7546300" y="6834426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Twilio WhatsApp Sandbox (FREE) for message routing and webhook integration.</a:t>
            </a:r>
            <a:endParaRPr lang="en-US" sz="1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F5505A-C400-D0B5-6D0A-2460C09EBB1A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12275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Impacts &amp; Benefits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930009"/>
            <a:ext cx="3111937" cy="2428875"/>
          </a:xfrm>
          <a:prstGeom prst="roundRect">
            <a:avLst>
              <a:gd name="adj" fmla="val 3432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768" y="31359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Educational Impact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99768" y="3565208"/>
            <a:ext cx="2699980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Early identification weeks before failure, data‑driven interventions and measurable reduction in dropout rates.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4104084" y="2930009"/>
            <a:ext cx="3111937" cy="2428875"/>
          </a:xfrm>
          <a:prstGeom prst="roundRect">
            <a:avLst>
              <a:gd name="adj" fmla="val 3432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10063" y="31359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Student Benefits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4310063" y="3565208"/>
            <a:ext cx="2699980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24/7 anonymous support on a familiar platform, quicker access to mentors and proactive wellbeing monitoring.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14379" y="2930009"/>
            <a:ext cx="3111937" cy="2428875"/>
          </a:xfrm>
          <a:prstGeom prst="roundRect">
            <a:avLst>
              <a:gd name="adj" fmla="val 3432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20357" y="31359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Institutional Gains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620357" y="3565208"/>
            <a:ext cx="2699980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Automated monitoring at scale, centralised analytics, improved retention, and better allocation of support resources.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724674" y="2930009"/>
            <a:ext cx="3111937" cy="2428875"/>
          </a:xfrm>
          <a:prstGeom prst="roundRect">
            <a:avLst>
              <a:gd name="adj" fmla="val 3432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30652" y="31359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Mentor Advantages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930652" y="3565208"/>
            <a:ext cx="2699980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Contextual student profiles, chat history, and follow‑up tools that focus mentor time where it matters most.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93790" y="5582126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Cost: Entire pipeline leverages free tiers and open‑source tools (Gemini API, Twilio Sandbox, scikit‑learn), enabling low‑cost adoption and strong ROI through higher retention.</a:t>
            </a:r>
            <a:endParaRPr lang="en-US" sz="15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6E5730-A7EC-5C5C-E1D3-684BF1A4F87E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75454"/>
            <a:ext cx="632924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Conclusion &amp; Future Scope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1693188"/>
            <a:ext cx="130428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 built an integrated, free‑tool driven Student Dropout Prediction System combining an AI WhatsApp chatbot, behavioural analytics, Random Forest prediction, and real‑time mentor workflows. The platform delivers &gt;80% prediction accuracy in trials and creates measurable routes from detection to intervention.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3790" y="2869049"/>
            <a:ext cx="6422231" cy="3689628"/>
          </a:xfrm>
          <a:prstGeom prst="roundRect">
            <a:avLst>
              <a:gd name="adj" fmla="val 2259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8C9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5008" y="3090267"/>
            <a:ext cx="300466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How Problems Are Solved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15008" y="3519488"/>
            <a:ext cx="5979795" cy="2817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Late detection → continuous monitoring + ML alerts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 behavioural data → VADER sentiment &amp; keyword extraction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Communication gap → anonymous WhatsApp interactions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 mentor connection → automated mentor assignment + Socket.IO chat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Manual monitoring → React dashboards with real‑time analytics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14379" y="2869049"/>
            <a:ext cx="6422231" cy="3689628"/>
          </a:xfrm>
          <a:prstGeom prst="roundRect">
            <a:avLst>
              <a:gd name="adj" fmla="val 2259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8C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597" y="309026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Future Work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635597" y="3519488"/>
            <a:ext cx="5979795" cy="109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Font typeface="+mj-lt"/>
              <a:buAutoNum type="arabicPeriod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Multi‑language support and voice message analysis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Font typeface="+mj-lt"/>
              <a:buAutoNum type="arabicPeriod" startAt="2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ERP integrations and mobile mentor app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Font typeface="+mj-lt"/>
              <a:buAutoNum type="arabicPeriod" startAt="3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Advanced models (LSTM, BERT) for improved accuracy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93790" y="6881067"/>
            <a:ext cx="13042821" cy="32385"/>
          </a:xfrm>
          <a:prstGeom prst="rect">
            <a:avLst/>
          </a:prstGeom>
          <a:solidFill>
            <a:srgbClr val="5B5F71">
              <a:alpha val="50000"/>
            </a:srgbClr>
          </a:solidFill>
          <a:ln/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533DA3-03E7-B84B-B125-F98C867B62FF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Words>753</Words>
  <Application>Microsoft Office PowerPoint</Application>
  <PresentationFormat>Custom</PresentationFormat>
  <Paragraphs>71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Instrument Sans Semi Bold</vt:lpstr>
      <vt:lpstr>Calibri Light</vt:lpstr>
      <vt:lpstr>Instrument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Atharv Niprul</cp:lastModifiedBy>
  <cp:revision>6</cp:revision>
  <dcterms:created xsi:type="dcterms:W3CDTF">2026-03-04T08:00:18Z</dcterms:created>
  <dcterms:modified xsi:type="dcterms:W3CDTF">2026-03-04T10:25:57Z</dcterms:modified>
</cp:coreProperties>
</file>